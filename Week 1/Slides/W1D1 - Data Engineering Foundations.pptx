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6" r:id="rId27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notesMaster" Target="notesMasters/notesMaster1.xml"/>
  <Relationship Id="rId23" Type="http://schemas.openxmlformats.org/officeDocument/2006/relationships/presProps" Target="presProps.xml"/>
  <Relationship Id="rId24" Type="http://schemas.openxmlformats.org/officeDocument/2006/relationships/viewProps" Target="viewProps.xml"/>
  <Relationship Id="rId25" Type="http://schemas.openxmlformats.org/officeDocument/2006/relationships/theme" Target="theme/theme1.xml"/>
  <Relationship Id="rId26" Type="http://schemas.openxmlformats.org/officeDocument/2006/relationships/tableStyles" Target="tableStyles.xml"/>
  <Relationship Id="rId27" Type="http://schemas.openxmlformats.org/officeDocument/2006/relationships/slide" Target="slides/slide21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_rels/notesSlide1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1.xml"/>
  
		
</Relationships>

</file>

<file path=ppt/notesSlides/_rels/notesSlide1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2.xml"/>
  
		
</Relationships>

</file>

<file path=ppt/notesSlides/_rels/notesSlide1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3.xml"/>
  
		
</Relationships>

</file>

<file path=ppt/notesSlides/_rels/notesSlide1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4.xml"/>
  
		
</Relationships>

</file>

<file path=ppt/notesSlides/_rels/notesSlide1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5.xml"/>
  
		
</Relationships>

</file>

<file path=ppt/notesSlides/_rels/notesSlide1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6.xml"/>
  
		
</Relationships>

</file>

<file path=ppt/notesSlides/_rels/notesSlide1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7.xml"/>
  
		
</Relationships>

</file>

<file path=ppt/notesSlides/_rels/notesSlide1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8.xml"/>
  
		
</Relationships>

</file>

<file path=ppt/notesSlides/_rels/notesSlide1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9.xml"/>
  
		
</Relationships>

</file>

<file path=ppt/notesSlides/_rels/notesSlide2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0.xml"/>
  
		
</Relationships>

</file>

<file path=ppt/notesSlides/_rels/notesSlide2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1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
</file>

<file path=ppt/slides/_rels/slide1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
</file>

<file path=ppt/slides/_rels/slide1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
</file>

<file path=ppt/slides/_rels/slide2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
</file>

<file path=ppt/slides/_rels/slide2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82296"/>
            <a:ext cx="2834640" cy="5061204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502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0" y="1664208"/>
            <a:ext cx="457200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8745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engineering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 &amp; formats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streaming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data stack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team roles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TECHCATALYST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engineering foundations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engineers do, the data they work with, and the modern data stack you will master this summer.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  ·  TechCatalyst Data Engineering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8-week journey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429000"/>
                <a:gridCol w="64008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Week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Theme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Week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Theme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cloud foundations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 &amp; PySpark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foundations — Linux, Git &amp; 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&amp; AI-assisted engineering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Warehousing &amp; SQL on GCP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BI, visualization &amp; data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Snowflake, dbt &amp; advanced 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9776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project thread: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design, build, and ship a large-scale NYC Taxi data pipeline — starting with today's concepts and ending with your capstone demo.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Block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– 9:00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introductions, program expectations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10:30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data engineering? Roles and the DE 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10:45 – 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of data, file formats, batch vs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 – 2:30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modern data stack &amp; The Hartford's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3:45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activity 1 — Analytics in 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3:45 – 4:45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activity 2 — DE case study: car insurance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4:45 – 5:00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Readouts, recap, and what's 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data engineering?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E1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“The development, implementation, and maintenance of systems that take raw data and produce high-quality, consistent information for downstream use.”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417320" cy="73152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37744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2743200"/>
            <a:ext cx="27432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2377440"/>
            <a:ext cx="1417320" cy="73152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237744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743200"/>
            <a:ext cx="27432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86200" y="2377440"/>
            <a:ext cx="1417320" cy="73152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237744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743200"/>
            <a:ext cx="27432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2377440"/>
            <a:ext cx="1417320" cy="73152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237744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2743200"/>
            <a:ext cx="27432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9480" y="2377440"/>
            <a:ext cx="1417320" cy="73152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2377440"/>
            <a:ext cx="1307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83280"/>
            <a:ext cx="818388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8328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Undercurrents: security · data quality · governance · DataOps · orchestration · cost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 between the systems that create data and the people who consume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 vs analyst vs scientist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31089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31089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29514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operates pipelines and platforms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 reliability, scale, cost, quality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Python, Spark, cloud services, orchestration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trusted, fresh datasets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280160"/>
            <a:ext cx="2606040" cy="31089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80160"/>
            <a:ext cx="50292" cy="31089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8144" y="1737360"/>
            <a:ext cx="229514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business questions with data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 metrics, trends, dashboards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BI tools (Tableau, Looker, ThoughtSpot)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insights and reports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1280160"/>
            <a:ext cx="2606040" cy="31089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4184" y="1280160"/>
            <a:ext cx="50292" cy="3108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scientist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8776" y="1737360"/>
            <a:ext cx="229514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models that predict and classify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 features, accuracy, experiments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statistics, ML frameworks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models and predictions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data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 unstructured, CSV to Parquet, batch to streaming.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shapes of data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27432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274320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columns, fixed schema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tables, spreadsheets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policy records, claims tables, premium ledgers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280160"/>
            <a:ext cx="2606040" cy="27432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80160"/>
            <a:ext cx="50292" cy="2743200"/>
          </a:xfrm>
          <a:prstGeom prst="rect">
            <a:avLst/>
          </a:prstGeom>
          <a:solidFill>
            <a:srgbClr val="B97516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Semi-structured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8144" y="1737360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Self-describing, flexible schema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XML, Avro, logs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telematics events from cars, API payloads, clickstream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1280160"/>
            <a:ext cx="2606040" cy="274320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4184" y="1280160"/>
            <a:ext cx="50292" cy="27432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8776" y="1737360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schema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PDFs, free text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Insurance: accident photos, adjuster notes, call transcripts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 data is semi- or unstructured — and GenAI is making it usable. We return to this in Week 6.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formats every DE must know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8288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Format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Schema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for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Row,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(inferred)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exchange, small files, humans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Nested,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Self-describing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APIs, events, semi-structured payloads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Columnar, binary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+ typed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at scale — our default in this course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Row, binary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+ evolvable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records, schema evolution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7947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columnar wins for analytics: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read only the columns they need, data compresses better, and engines can skip row groups entirely. The NYC Taxi dataset ships as Parquet for exactly this reason.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data comes from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377440" cy="566928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23444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databases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947672"/>
            <a:ext cx="2377440" cy="566928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194767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2377440" cy="566928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2660904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streams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74136"/>
            <a:ext cx="2377440" cy="566928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337413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&amp; feeds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087368"/>
            <a:ext cx="2377440" cy="566928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408736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platforms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63240" y="12344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admin, claims &amp; billing systems (OLTP)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19476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API (driving events), rating &amp; weather feeds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266090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telematics, fraud signals, IoT sensors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33741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SFTP claims drops (CSV/EDI), vendor files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63240" y="40873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(claims), Salesforce, HR/payroll SaaS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2834640"/>
            <a:ext cx="457200" cy="0"/>
          </a:xfrm>
          <a:prstGeom prst="line">
            <a:avLst/>
          </a:prstGeom>
          <a:noFill/>
          <a:ln w="25400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2377440"/>
            <a:ext cx="2148840" cy="91440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2432304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pipeline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47104" y="2852928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· clean · serve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vs streaming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2651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265176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chunks on a schedule (hourly, nightly)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cheaper, easier to re-run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minutes to hours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nightly claims summary load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26517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2651760"/>
          </a:xfrm>
          <a:prstGeom prst="rect">
            <a:avLst/>
          </a:prstGeom>
          <a:solidFill>
            <a:srgbClr val="B975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events processed continuously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always-on infrastructure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seconds or less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real-time fraud flags on claims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batch; go streaming only when the business value of low latency justifies the cost. Most pipelines you'll build are batch.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modern data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layers of tooling — and where The Hartford's platforms fit.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DATA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the modern data stack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8872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891894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" y="2375611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APIs · files · events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91640" y="2359152"/>
            <a:ext cx="18288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74520" y="1828800"/>
            <a:ext cx="118872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9384" y="1891894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9384" y="2375611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· Dataflow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2359152"/>
            <a:ext cx="18288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1828800"/>
            <a:ext cx="118872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1891894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00984" y="2375611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· S3 · data lake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359152"/>
            <a:ext cx="18288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17720" y="1828800"/>
            <a:ext cx="118872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891894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Warehouse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72584" y="2375611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· Snowflake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2359152"/>
            <a:ext cx="18288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89320" y="1828800"/>
            <a:ext cx="118872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44184" y="1891894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044184" y="2375611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· SQL · Spark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359152"/>
            <a:ext cx="18288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1828800"/>
            <a:ext cx="1188720" cy="105156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1891894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15784" y="2375611"/>
            <a:ext cx="10789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· apps · ML &amp;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154680"/>
            <a:ext cx="8046720" cy="41148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154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orchestration · governance · quality · observability · cost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of this program maps to one or more of these layers. By Week 8 you will have touched all of them.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DATA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Hartford's data platform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Snowflake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analytical warehouse — Week 4 deep dive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28016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Cloud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8144" y="173736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direction: BigQuery, Dataflow, Vertex AI — Weeks 3–6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128016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4184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8776" y="173736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footprint: S3, EMR — secondary cloud overlay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 &amp; analytics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" y="338328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Tableau, Looker, ThoughtSpot — Week 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73552" y="292608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73552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5" name="Text 23"/>
          <p:cNvSpPr/>
          <p:nvPr/>
        </p:nvSpPr>
        <p:spPr>
          <a:xfrm>
            <a:off x="3438144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38144" y="338328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 programming — introduced Week 6, after you can code without it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44184" y="292608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8" name="Shape 26"/>
          <p:cNvSpPr/>
          <p:nvPr/>
        </p:nvSpPr>
        <p:spPr>
          <a:xfrm>
            <a:off x="6044184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08776" y="338328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Spark learning environment (Free Edition — serverless) — Week 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DATA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in a modern data team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12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Role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Focus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You'll practice it in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Pipelines, platforms, data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transformations, dbt models, semantic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3–4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architect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design, patterns, trade-offs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5, capstone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/ DataOps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CI/CD, orchestration,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4–5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AI engineer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pipelines, model serving, GenAI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vary by company — the skills overlap heavily. This program makes you dangerous across all five.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DATA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types of analytics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— what happened?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claims dashboard; top loss categories last quarter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1463040"/>
          </a:xfrm>
          <a:prstGeom prst="rect">
            <a:avLst/>
          </a:prstGeom>
          <a:solidFill>
            <a:srgbClr val="B975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— why did it happen?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auto claims spike in March? Drill-down and correlation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39776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926080"/>
            <a:ext cx="50292" cy="1463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0358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— what will happen?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" y="3383280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policies are likely to churn? Expected claim severity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9776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0358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Prescriptive — what should we do?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28032" y="3383280"/>
            <a:ext cx="3666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premium adjustment; optimal adjuster routing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project thread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eight weeks, real data at scale.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THREAD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longitudinal project: NYC Taxi pipeline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5233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19860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5233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60904" y="19860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clean with Python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5233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64024" y="19860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BigQuery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4630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15233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W4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67144" y="19860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with Snowflake + dbt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28949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57784" y="33576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PySpark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8346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28949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60904" y="33576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GenAI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1874520" cy="100584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8949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W7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764024" y="33576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serve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2834640"/>
            <a:ext cx="1874520" cy="10058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2894990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W8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67144" y="3357677"/>
            <a:ext cx="1764792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ship 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real trip records, in Parquet, with all the messiness of production data.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1 — Analytics in action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four analytics types to a real industry and defend your reasoning.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group, pick an industry: retail, healthcare, ride-sharing, airline, streaming, or banking.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analytics type, define one concrete business question and the data needed to answer it.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data shapes (structured / semi / unstructured) each question requires.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2–3 slides; every member speaks during the readout.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group readout — one analytics question per type, with data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 — DE case study: car insurance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a data engineer's role in a car insurance company.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real examples of structured, semi-structured, and unstructured data in car insurance.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data flow end-to-end: where it's generated, how it's ingested, where it lands, who consumes it.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could go wrong? (quality, privacy/PII, latency, scale)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5-minute story: “a day in the life of this data.”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group story + one slide showing the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2161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build the systems that turn raw data into trusted, usable information.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9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in three shapes — structured, semi-structured, unstructured — and format choice (Parquet!) matters at scale.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6426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is the default; streaming is for when seconds matter and the cost is justified.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3558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data stack is layered — and The Hartford's stack maps cleanly onto it.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cloud fundamentals — IaaS/PaaS/SaaS, GCP vs AWS, IAM, and billing.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I Free Z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RULES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AI-Free Zone — Weeks 1 through 4</a:t>
            </a:r>
            <a:endParaRPr lang="en-US" sz="2500" dirty="0"/>
          </a:p>
        </p:txBody>
      </p:sp>
      <p:sp>
        <p:nvSpPr>
          <p:cNvPr id="20" name="Subtitle"/>
          <p:cNvSpPr/>
          <p:nvPr/>
        </p:nvSpPr>
        <p:spPr>
          <a:xfrm>
            <a:off x="502920" y="960120"/>
            <a:ext cx="8138160" cy="2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0" i="1" dirty="0">
                <a:solidFill>
                  <a:srgbClr val="555555"/>
                </a:solidFill>
                <a:latin typeface="Trebuchet MS" pitchFamily="34" charset="0"/>
              </a:rPr>
              <a:t>No GitHub Copilot. No ChatGPT. No LLM-generated code. You write every line by hand.</a:t>
            </a:r>
          </a:p>
        </p:txBody>
      </p:sp>
      <p:sp>
        <p:nvSpPr>
          <p:cNvPr id="21" name="ReasonBox"/>
          <p:cNvSpPr/>
          <p:nvPr/>
        </p:nvSpPr>
        <p:spPr>
          <a:xfrm>
            <a:off x="457200" y="1320000"/>
            <a:ext cx="8229600" cy="2600000"/>
          </a:xfrm>
          <a:prstGeom prst="rect">
            <a:avLst/>
          </a:prstGeom>
          <a:solidFill>
            <a:srgbClr val="F7F4F0"/>
          </a:solidFill>
          <a:ln w="18000">
            <a:solidFill>
              <a:srgbClr val="B22222"/>
            </a:solidFill>
          </a:ln>
        </p:spPr>
        <p:txBody>
          <a:bodyPr wrap="square" lIns="182880" tIns="182880" rIns="182880" bIns="18288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2222"/>
                </a:solidFill>
                <a:latin typeface="Trebuchet MS" pitchFamily="34" charset="0"/>
              </a:rPr>
              <a:t>Why this rule exists:</a:t>
            </a:r>
          </a:p>
          <a:p>
            <a:pPr indent="0" marL="0">
              <a:buNone/>
            </a:pPr>
            <a:endParaRPr lang="en-US" sz="1000" dirty="0"/>
          </a:p>
          <a:p>
            <a:pPr indent="-274638" marL="274638">
              <a:buFont typeface="Arial" charset="0"/>
              <a:buChar char="●"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</a:rPr>
              <a:t>Build syntax muscle memory. </a:t>
            </a:r>
            <a:r>
              <a:rPr lang="en-US" sz="1200" b="0" dirty="0">
                <a:solidFill>
                  <a:srgbClr val="444444"/>
                </a:solidFill>
                <a:latin typeface="Trebuchet MS" pitchFamily="34" charset="0"/>
              </a:rPr>
              <a:t>Engineers who rely on AI before they can read code cannot debug, review, or extend it.</a:t>
            </a:r>
          </a:p>
          <a:p>
            <a:pPr indent="0" marL="0">
              <a:buNone/>
            </a:pPr>
            <a:endParaRPr lang="en-US" sz="1000" dirty="0"/>
          </a:p>
          <a:p>
            <a:pPr indent="-274638" marL="274638">
              <a:buFont typeface="Arial" charset="0"/>
              <a:buChar char="●"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</a:rPr>
              <a:t>Develop debugging resilience. </a:t>
            </a:r>
            <a:r>
              <a:rPr lang="en-US" sz="1200" b="0" dirty="0">
                <a:solidFill>
                  <a:srgbClr val="444444"/>
                </a:solidFill>
                <a:latin typeface="Trebuchet MS" pitchFamily="34" charset="0"/>
              </a:rPr>
              <a:t>Reading error messages and fixing them yourself is the skill. AI takes it away before you have it.</a:t>
            </a:r>
          </a:p>
          <a:p>
            <a:pPr indent="0" marL="0">
              <a:buNone/>
            </a:pPr>
            <a:endParaRPr lang="en-US" sz="1000" dirty="0"/>
          </a:p>
          <a:p>
            <a:pPr indent="-274638" marL="274638">
              <a:buFont typeface="Arial" charset="0"/>
              <a:buChar char="●"/>
            </a:pPr>
            <a:r>
              <a:rPr lang="en-US" sz="1200" b="1" dirty="0">
                <a:solidFill>
                  <a:srgbClr val="212121"/>
                </a:solidFill>
                <a:latin typeface="Trebuchet MS" pitchFamily="34" charset="0"/>
              </a:rPr>
              <a:t>Earn the right to use AI tools. </a:t>
            </a:r>
            <a:r>
              <a:rPr lang="en-US" sz="1200" b="0" dirty="0">
                <a:solidFill>
                  <a:srgbClr val="444444"/>
                </a:solidFill>
                <a:latin typeface="Trebuchet MS" pitchFamily="34" charset="0"/>
              </a:rPr>
              <a:t>In Week 6 you get GitHub Copilot — and you will know exactly when to trust it and when not to.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1  ·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W1D1 Data Engineering Foundations</dc:title>
  <dc:subject>PptxGenJS Presentation</dc:subject>
  <dc:creator>TechCatalyst DE 2026</dc:creator>
  <cp:lastModifiedBy>TechCatalyst DE 2026</cp:lastModifiedBy>
  <cp:revision>1</cp:revision>
  <dcterms:created xsi:type="dcterms:W3CDTF">2026-06-11T11:31:11Z</dcterms:created>
  <dcterms:modified xsi:type="dcterms:W3CDTF">2026-06-11T11:31:11Z</dcterms:modified>
</cp:coreProperties>
</file>