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Shape 1"/>
          <p:cNvSpPr/>
          <p:nvPr/>
        </p:nvSpPr>
        <p:spPr>
          <a:xfrm>
            <a:off x="6309360" y="82296"/>
            <a:ext cx="2834640" cy="5061204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4" name="Text 2"/>
          <p:cNvSpPr/>
          <p:nvPr/>
        </p:nvSpPr>
        <p:spPr>
          <a:xfrm>
            <a:off x="6537960" y="5029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37960" y="1664208"/>
            <a:ext cx="457200" cy="320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537960" y="187452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cloud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 · PaaS · SaaS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vs AWS for DE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essentials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cost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TECHCATALYST DE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fundamentals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94360" y="320040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models, GCP and AWS side by side, identity &amp; access, and how not to blow the budget — the data engineer's view.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Hartford  ·  TechCatalyst Data Engineering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agenda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2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922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Time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Block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8:00 – 9:00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Recap &amp; stand-up: yesterday's readouts revisited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9:00 – 10:30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cloud? Service models and shared responsibility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10:45 – 12:00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 and AWS: the data engineer's service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1:00 – 2:15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IAM: identities, roles, least privilege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2:15 – 3:00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Billing, budgets, and cost gotchas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3:15 – 4:00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 demo: GCP console tour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4:00 – 5:00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activity: cloud architecture scenarios + readout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CLOUD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the cloud won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OpEx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what you use — no upfront hardware capital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73552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10712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 to 1,000 machines for an hour, then 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280160"/>
            <a:ext cx="26060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4" name="Text 12"/>
          <p:cNvSpPr/>
          <p:nvPr/>
        </p:nvSpPr>
        <p:spPr>
          <a:xfrm>
            <a:off x="6181344" y="1389888"/>
            <a:ext cx="233172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Managed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181344" y="2059686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queues, and Spark clusters as a service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1752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cloud: order servers, wait weeks, over-provision for peak load, maintain everything yourself.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cloud: provision in minutes, experiment cheaply, let the provider run the undifferentiated heavy lifting.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DEs this means: more time on pipelines and data, less on hardware and patching.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IaaS, PaaS, SaaS — who manages what?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4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17320"/>
                <a:gridCol w="1417320"/>
                <a:gridCol w="141732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Layer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On-prem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IaaS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&amp;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&amp; middleware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&amp; virtualization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Servers, storage, network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388620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examples — </a:t>
            </a:r>
            <a:pPr indent="0" marL="0"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IaaS: a VM you install Spark on (Compute Engine, EC2). PaaS: BigQuery, Dataflow, Snowflake. SaaS: Tableau Cloud, ThoughtSpot.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shared responsibility model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28346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28346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secures the cloud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centers and hardware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infrastructure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Hypervisor and host OS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availability (SLAs)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28346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2834640"/>
          </a:xfrm>
          <a:prstGeom prst="rect">
            <a:avLst/>
          </a:prstGeom>
          <a:solidFill>
            <a:srgbClr val="B97516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secure what's in the cloud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access your data (IAM)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and dataset permissions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choices and key management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handling and compliance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429768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cloud breaches are misconfiguration — a public bucket, an over-permissive role — not provider failures.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 MODELS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Regions, zones, and latency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029200" cy="30175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63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Region: us-east1 (South Carolina)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19659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31720" y="19659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3172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86200" y="1965960"/>
            <a:ext cx="1371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22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86200" y="19659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= isolated data centers within a region. Multi-zone = high availability.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760720" y="1417320"/>
            <a:ext cx="2880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compute next to data — cross-region reads are slow and cost egress.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residency: regulated data may have to stay in specific regions.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–"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labs: everything in one region to keep it simple and cheap.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 &amp; AWS for data engineering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clouds, one mental model.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 &amp; AWS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mental model, two clouds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7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81381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83464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Capability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Google Cloud (primary)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AWS (secondary)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Storage (GCS)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/ 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Redshift · Athena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stream pipelines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Dataflow (Apache Beam)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Glue · Kinesis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/ events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Pub/Sub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SNS · SQS · Kinesis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Spark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Dataproc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Composer (Airflow)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MWAA (Airflow)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/ ML platform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Vertex AI · Gemini Enterprise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SageMaker · Bedrock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434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capability, not the logo — the concepts transfer across clouds (and to Azure too).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 &amp; AWS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GCP building blocks you'll touch this summer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 of organization, billing, and permissions — everything lives in a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73552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73552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14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Storage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38144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 for raw and processed data — tomorrow's deep dive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44184" y="128016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6044184" y="1280160"/>
            <a:ext cx="50292" cy="146304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6208776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BigQuery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208776" y="173736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warehouse — Week 3's workhorse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Pub/Sub &amp; Dataflow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67512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ingestion and managed pipelines — Week 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273552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4" name="Shape 22"/>
          <p:cNvSpPr/>
          <p:nvPr/>
        </p:nvSpPr>
        <p:spPr>
          <a:xfrm>
            <a:off x="3273552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5" name="Text 23"/>
          <p:cNvSpPr/>
          <p:nvPr/>
        </p:nvSpPr>
        <p:spPr>
          <a:xfrm>
            <a:off x="3438144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Dataproc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438144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Spark clusters — Week 5 production jobs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044184" y="2926080"/>
            <a:ext cx="2606040" cy="146304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8" name="Shape 26"/>
          <p:cNvSpPr/>
          <p:nvPr/>
        </p:nvSpPr>
        <p:spPr>
          <a:xfrm>
            <a:off x="6044184" y="2926080"/>
            <a:ext cx="50292" cy="146304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9" name="Text 27"/>
          <p:cNvSpPr/>
          <p:nvPr/>
        </p:nvSpPr>
        <p:spPr>
          <a:xfrm>
            <a:off x="6208776" y="3035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Vertex AI / Gemini Enterprise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08776" y="3383280"/>
            <a:ext cx="229514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platform &amp; agent development — Week 6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2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8C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94360" y="214884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access management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94360" y="3200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D7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is a habit, not a feature.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IAM in one picture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2103120" cy="109728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" y="2077517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Principal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7784" y="2582266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group · service account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20440" y="2011680"/>
            <a:ext cx="2103120" cy="109728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75304" y="2077517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575304" y="2582266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of permissions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37960" y="2011680"/>
            <a:ext cx="2103120" cy="1097280"/>
          </a:xfrm>
          <a:prstGeom prst="rect">
            <a:avLst/>
          </a:prstGeom>
          <a:solidFill>
            <a:srgbClr val="F7F4F0"/>
          </a:solidFill>
          <a:ln w="12700">
            <a:solidFill>
              <a:srgbClr val="F7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2077517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92824" y="2582266"/>
            <a:ext cx="1993392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· dataset · project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06040" y="2560320"/>
            <a:ext cx="91440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623560" y="2560320"/>
            <a:ext cx="914400" cy="0"/>
          </a:xfrm>
          <a:prstGeom prst="line">
            <a:avLst/>
          </a:prstGeom>
          <a:noFill/>
          <a:ln w="22225">
            <a:solidFill>
              <a:srgbClr val="B22222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02920" y="13258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7E14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“WHO can do WHAT on WHICH resource”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347472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accounts: identities for programs, not people — your pipelines will run as one.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in GCP: basic (avoid in production), predefined (use these), custom (when needed).</a:t>
            </a:r>
            <a:endParaRPr lang="en-US" sz="1350" dirty="0"/>
          </a:p>
          <a:p>
            <a:pPr marL="177800" indent="-177800">
              <a:spcAft>
                <a:spcPts val="700"/>
              </a:spcAft>
              <a:buSzPct val="100000"/>
              <a:buChar char="–"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privilege: grant the smallest role that gets the job done, at the narrowest scope.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Billing without surprises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" cy="14173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Budgets &amp; alerts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budget per project; alert at 50/90/100% — first thing in any new project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1280160"/>
            <a:ext cx="50292" cy="14173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28032" y="13898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Labels &amp; projects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828032" y="173736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resources by team/purpose so costs are attributable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834640"/>
            <a:ext cx="50292" cy="1417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tiers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7512" y="329184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BigQuery: 1 TB queries + 10 GB storage monthly; GCS 5 GB; always-free VM — enough for our labs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3977640" cy="14173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834640"/>
            <a:ext cx="50292" cy="1417320"/>
          </a:xfrm>
          <a:prstGeom prst="rect">
            <a:avLst/>
          </a:prstGeom>
          <a:solidFill>
            <a:srgbClr val="0F6E56"/>
          </a:solidFill>
          <a:ln/>
        </p:spPr>
      </p:sp>
      <p:sp>
        <p:nvSpPr>
          <p:cNvPr id="21" name="Text 19"/>
          <p:cNvSpPr/>
          <p:nvPr/>
        </p:nvSpPr>
        <p:spPr>
          <a:xfrm>
            <a:off x="4828032" y="29443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Quotas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828032" y="3291840"/>
            <a:ext cx="366674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caps on resource use — protective rails, not obstacles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CONTROL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ways data engineers burn money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11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Mistake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 it hurts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Habit that prevents it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22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* on huge tables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BigQuery bills by bytes scanned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only needed columns; preview first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Idle clusters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 clusters bill per minute, used or not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Auto-terminate; ephemeral clusters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Cross-region egress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Moving data out of region costs per GB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Co-locate storage and compute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Forgotten resources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Orphaned disks, old buckets accumulate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up after every lab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4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partitioning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scans on date-filtered queries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 by date (Week 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Instructor demo: GCP console tour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1381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–"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anatomy — project picker, navigation, search, Cloud Shell</a:t>
            </a:r>
            <a:endParaRPr lang="en-US" sz="1500" dirty="0"/>
          </a:p>
          <a:p>
            <a:pPr lvl="1" marL="355600" indent="-1778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project, attach billing, set a budget alert</a:t>
            </a:r>
            <a:endParaRPr lang="en-US" sz="1500" dirty="0"/>
          </a:p>
          <a:p>
            <a:pPr lvl="1" marL="355600" indent="-1778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page — view principals and roles; add a viewer role</a:t>
            </a:r>
            <a:endParaRPr lang="en-US" sz="1500" dirty="0"/>
          </a:p>
          <a:p>
            <a:pPr lvl="1" marL="355600" indent="-1778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sandbox — run one public-dataset query (teaser for Week 3)</a:t>
            </a:r>
            <a:endParaRPr lang="en-US" sz="1500" dirty="0"/>
          </a:p>
          <a:p>
            <a:pPr lvl="1" marL="355600" indent="-177800">
              <a:spcAft>
                <a:spcPts val="1100"/>
              </a:spcAft>
              <a:buSzPct val="100000"/>
              <a:buChar char="–"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reports — where the money goes</a:t>
            </a:r>
            <a:endParaRPr lang="en-US" sz="1500" dirty="0"/>
          </a:p>
          <a:p>
            <a:pPr marL="177800" indent="-177800">
              <a:spcAft>
                <a:spcPts val="1100"/>
              </a:spcAft>
              <a:buSzPct val="100000"/>
              <a:buChar char="–"/>
            </a:pPr>
            <a:r>
              <a:rPr lang="en-US" sz="15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in your own console — we'll fix access issues live.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GROUP ACTIVITY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Activity — you're the architect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solidFill>
            <a:srgbClr val="7E1416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1188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 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207008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— </a:t>
            </a:r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business scenarios to service models and cloud services, and defend the choice.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965960"/>
            <a:ext cx="7955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group receives 4 scenarios (e.g., “nightly claims file arrives via SFTP, must be queryable by 8am”).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each: pick IaaS/PaaS/SaaS, name the GCP service AND its AWS equivalent, sketch the flow.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one cost risk and one security consideration per scenario.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a 5-minute readout; one scenario explained per member.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02920" y="4224528"/>
            <a:ext cx="8138160" cy="502920"/>
          </a:xfrm>
          <a:prstGeom prst="rect">
            <a:avLst/>
          </a:prstGeom>
          <a:solidFill>
            <a:srgbClr val="F7F4F0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4224528"/>
            <a:ext cx="50292" cy="502920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Deliverable: </a:t>
            </a:r>
            <a:pPr indent="0" marL="0">
              <a:buNone/>
            </a:pPr>
            <a:r>
              <a:rPr lang="en-US" sz="12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worksheet + 5-minute readout with service choices justified.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B2222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45720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1212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4864608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TechCatalyst DE 2026 · The Hartford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486460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Day 2  · 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1216152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= renting elastic, managed infrastructure — you trade control for speed and scale.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8992" y="1929384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who manages what: IaaS → PaaS → SaaS shifts responsibility to the provider; security of your data is always yours.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660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642616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capabilities, not logos: GCS↔S3, BigQuery↔Redshift, Dataflow↔Glue, Dataproc↔EMR.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8992" y="3355848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= who can do what on which resource. Least privilege, always. Service accounts for pipelines.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solidFill>
            <a:srgbClr val="B2222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78992" y="40690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budget alerts before you create anything. Tomorrow: hands-on setup — VS Code, Git, Python, Codespaces.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W1D2 Cloud Fundamentals</dc:title>
  <dc:subject>PptxGenJS Presentation</dc:subject>
  <dc:creator>TechCatalyst DE 2026</dc:creator>
  <cp:lastModifiedBy>TechCatalyst DE 2026</cp:lastModifiedBy>
  <cp:revision>1</cp:revision>
  <dcterms:created xsi:type="dcterms:W3CDTF">2026-06-11T11:31:11Z</dcterms:created>
  <dcterms:modified xsi:type="dcterms:W3CDTF">2026-06-11T11:31:11Z</dcterms:modified>
</cp:coreProperties>
</file>