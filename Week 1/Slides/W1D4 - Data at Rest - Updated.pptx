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7d31ce2e524246" /><Relationship Type="http://schemas.openxmlformats.org/officeDocument/2006/relationships/extended-properties" Target="/docProps/app.xml" Id="Rd656457fa4124918" /><Relationship Type="http://schemas.openxmlformats.org/officeDocument/2006/relationships/officeDocument" Target="/ppt/presentation.xml" Id="R868473c52bab42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ccc12722648fc"/>
  </p:sldMasterIdLst>
  <p:notesMasterIdLst>
    <p:notesMasterId xmlns:r="http://schemas.openxmlformats.org/officeDocument/2006/relationships" r:id="Rfaef74a16d594d60"/>
  </p:notesMasterIdLst>
  <p:sldIdLst>
    <p:sldId xmlns:r="http://schemas.openxmlformats.org/officeDocument/2006/relationships" id="256" r:id="R563653576a8e4afd"/>
    <p:sldId xmlns:r="http://schemas.openxmlformats.org/officeDocument/2006/relationships" id="257" r:id="Rfa4528b571d4431e"/>
    <p:sldId xmlns:r="http://schemas.openxmlformats.org/officeDocument/2006/relationships" id="258" r:id="Rdc6ccd08d7144498"/>
    <p:sldId xmlns:r="http://schemas.openxmlformats.org/officeDocument/2006/relationships" id="259" r:id="R195daa91ff404a17"/>
    <p:sldId xmlns:r="http://schemas.openxmlformats.org/officeDocument/2006/relationships" id="260" r:id="R7394de8b36c24abb"/>
    <p:sldId xmlns:r="http://schemas.openxmlformats.org/officeDocument/2006/relationships" id="261" r:id="R0df74589912c410e"/>
    <p:sldId xmlns:r="http://schemas.openxmlformats.org/officeDocument/2006/relationships" id="262" r:id="Rabbfecc86c464a31"/>
    <p:sldId xmlns:r="http://schemas.openxmlformats.org/officeDocument/2006/relationships" id="263" r:id="R181b1c850bfc4f99"/>
    <p:sldId xmlns:r="http://schemas.openxmlformats.org/officeDocument/2006/relationships" id="264" r:id="Rbf68865b2a0f4453"/>
    <p:sldId xmlns:r="http://schemas.openxmlformats.org/officeDocument/2006/relationships" id="265" r:id="R6a7db3de3ecc4d71"/>
    <p:sldId xmlns:r="http://schemas.openxmlformats.org/officeDocument/2006/relationships" id="266" r:id="R701816e1435c4bcb"/>
    <p:sldId xmlns:r="http://schemas.openxmlformats.org/officeDocument/2006/relationships" id="267" r:id="R194c032e6cda4dd7"/>
    <p:sldId xmlns:r="http://schemas.openxmlformats.org/officeDocument/2006/relationships" id="268" r:id="Rb20da3755bf14e99"/>
    <p:sldId xmlns:r="http://schemas.openxmlformats.org/officeDocument/2006/relationships" id="269" r:id="R6152fc1d973d46cc"/>
    <p:sldId xmlns:r="http://schemas.openxmlformats.org/officeDocument/2006/relationships" id="270" r:id="R9cf991c403a54a58"/>
    <p:sldId xmlns:r="http://schemas.openxmlformats.org/officeDocument/2006/relationships" id="271" r:id="R15f75a626cf14f41"/>
    <p:sldId xmlns:r="http://schemas.openxmlformats.org/officeDocument/2006/relationships" id="272" r:id="Rff170ff371bd44f5"/>
    <p:sldId xmlns:r="http://schemas.openxmlformats.org/officeDocument/2006/relationships" id="273" r:id="R50918399c1d64a1e"/>
    <p:sldId xmlns:r="http://schemas.openxmlformats.org/officeDocument/2006/relationships" id="274" r:id="R75cc4105ab7b4949"/>
    <p:sldId xmlns:r="http://schemas.openxmlformats.org/officeDocument/2006/relationships" id="275" r:id="R88f4d81adce04990"/>
    <p:sldId xmlns:r="http://schemas.openxmlformats.org/officeDocument/2006/relationships" id="276" r:id="Rc60466320da74b43"/>
    <p:sldId xmlns:r="http://schemas.openxmlformats.org/officeDocument/2006/relationships" id="277" r:id="R06645ea02e4f4108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f6ff896904a28" /><Relationship Type="http://schemas.openxmlformats.org/officeDocument/2006/relationships/slideMaster" Target="/ppt/slideMasters/slideMaster1.xml" Id="Rd8bccc12722648fc" /><Relationship Type="http://schemas.openxmlformats.org/officeDocument/2006/relationships/notesMaster" Target="/ppt/notesMasters/notesMaster1.xml" Id="Rfaef74a16d594d60" /><Relationship Type="http://schemas.openxmlformats.org/officeDocument/2006/relationships/presProps" Target="/ppt/presProps.xml" Id="R79f3ce95c2c44843" /><Relationship Type="http://schemas.openxmlformats.org/officeDocument/2006/relationships/tableStyles" Target="/ppt/tableStyles.xml" Id="R13bd779949ca4118" /><Relationship Type="http://schemas.openxmlformats.org/officeDocument/2006/relationships/slide" Target="/ppt/slides/slide1.xml" Id="R563653576a8e4afd" /><Relationship Type="http://schemas.openxmlformats.org/officeDocument/2006/relationships/slide" Target="/ppt/slides/slide2.xml" Id="Rfa4528b571d4431e" /><Relationship Type="http://schemas.openxmlformats.org/officeDocument/2006/relationships/slide" Target="/ppt/slides/slide3.xml" Id="Rdc6ccd08d7144498" /><Relationship Type="http://schemas.openxmlformats.org/officeDocument/2006/relationships/slide" Target="/ppt/slides/slide4.xml" Id="R195daa91ff404a17" /><Relationship Type="http://schemas.openxmlformats.org/officeDocument/2006/relationships/slide" Target="/ppt/slides/slide5.xml" Id="R7394de8b36c24abb" /><Relationship Type="http://schemas.openxmlformats.org/officeDocument/2006/relationships/slide" Target="/ppt/slides/slide6.xml" Id="R0df74589912c410e" /><Relationship Type="http://schemas.openxmlformats.org/officeDocument/2006/relationships/slide" Target="/ppt/slides/slide7.xml" Id="Rabbfecc86c464a31" /><Relationship Type="http://schemas.openxmlformats.org/officeDocument/2006/relationships/slide" Target="/ppt/slides/slide8.xml" Id="R181b1c850bfc4f99" /><Relationship Type="http://schemas.openxmlformats.org/officeDocument/2006/relationships/slide" Target="/ppt/slides/slide9.xml" Id="Rbf68865b2a0f4453" /><Relationship Type="http://schemas.openxmlformats.org/officeDocument/2006/relationships/slide" Target="/ppt/slides/slide10.xml" Id="R6a7db3de3ecc4d71" /><Relationship Type="http://schemas.openxmlformats.org/officeDocument/2006/relationships/slide" Target="/ppt/slides/slide11.xml" Id="R701816e1435c4bcb" /><Relationship Type="http://schemas.openxmlformats.org/officeDocument/2006/relationships/slide" Target="/ppt/slides/slide12.xml" Id="R194c032e6cda4dd7" /><Relationship Type="http://schemas.openxmlformats.org/officeDocument/2006/relationships/slide" Target="/ppt/slides/slide13.xml" Id="Rb20da3755bf14e99" /><Relationship Type="http://schemas.openxmlformats.org/officeDocument/2006/relationships/slide" Target="/ppt/slides/slide14.xml" Id="R6152fc1d973d46cc" /><Relationship Type="http://schemas.openxmlformats.org/officeDocument/2006/relationships/slide" Target="/ppt/slides/slide15.xml" Id="R9cf991c403a54a58" /><Relationship Type="http://schemas.openxmlformats.org/officeDocument/2006/relationships/slide" Target="/ppt/slides/slide16.xml" Id="R15f75a626cf14f41" /><Relationship Type="http://schemas.openxmlformats.org/officeDocument/2006/relationships/slide" Target="/ppt/slides/slide17.xml" Id="Rff170ff371bd44f5" /><Relationship Type="http://schemas.openxmlformats.org/officeDocument/2006/relationships/slide" Target="/ppt/slides/slide18.xml" Id="R50918399c1d64a1e" /><Relationship Type="http://schemas.openxmlformats.org/officeDocument/2006/relationships/slide" Target="/ppt/slides/slide19.xml" Id="R75cc4105ab7b4949" /><Relationship Type="http://schemas.openxmlformats.org/officeDocument/2006/relationships/slide" Target="/ppt/slides/slide20.xml" Id="R88f4d81adce04990" /><Relationship Type="http://schemas.openxmlformats.org/officeDocument/2006/relationships/slide" Target="/ppt/slides/slide21.xml" Id="Rc60466320da74b43" /><Relationship Type="http://schemas.openxmlformats.org/officeDocument/2006/relationships/slide" Target="/ppt/slides/slide22.xml" Id="R06645ea02e4f41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3c677c42d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b3d6f20b24da1" /><Relationship Type="http://schemas.openxmlformats.org/officeDocument/2006/relationships/notesMaster" Target="/ppt/notesMasters/notesMaster1.xml" Id="R0bdc5303a90c42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393607e4f4f43" /><Relationship Type="http://schemas.openxmlformats.org/officeDocument/2006/relationships/notesMaster" Target="/ppt/notesMasters/notesMaster1.xml" Id="Rdd9ae1682a7941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6deb54aac48d3" /><Relationship Type="http://schemas.openxmlformats.org/officeDocument/2006/relationships/notesMaster" Target="/ppt/notesMasters/notesMaster1.xml" Id="Rb13e95214b9c44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ee41ff7eb430c" /><Relationship Type="http://schemas.openxmlformats.org/officeDocument/2006/relationships/notesMaster" Target="/ppt/notesMasters/notesMaster1.xml" Id="R7a0f71f133f248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c0781ccbe4d1f" /><Relationship Type="http://schemas.openxmlformats.org/officeDocument/2006/relationships/notesMaster" Target="/ppt/notesMasters/notesMaster1.xml" Id="R98788ac059a94b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0850089d340da" /><Relationship Type="http://schemas.openxmlformats.org/officeDocument/2006/relationships/notesMaster" Target="/ppt/notesMasters/notesMaster1.xml" Id="Rd6ea71eb6af1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cc21157ccb457f" /><Relationship Type="http://schemas.openxmlformats.org/officeDocument/2006/relationships/notesMaster" Target="/ppt/notesMasters/notesMaster1.xml" Id="Ra780cf944ffd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85a0bac02a4305" /><Relationship Type="http://schemas.openxmlformats.org/officeDocument/2006/relationships/notesMaster" Target="/ppt/notesMasters/notesMaster1.xml" Id="R741085b7c7484b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7349ce31ff4d35" /><Relationship Type="http://schemas.openxmlformats.org/officeDocument/2006/relationships/notesMaster" Target="/ppt/notesMasters/notesMaster1.xml" Id="Rf3b7e2bc3a5747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d0bc20467a49ca" /><Relationship Type="http://schemas.openxmlformats.org/officeDocument/2006/relationships/notesMaster" Target="/ppt/notesMasters/notesMaster1.xml" Id="R67b4133966714d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75ab6af8be45e8" /><Relationship Type="http://schemas.openxmlformats.org/officeDocument/2006/relationships/notesMaster" Target="/ppt/notesMasters/notesMaster1.xml" Id="R8ddc15f119d842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6514493bf04268" /><Relationship Type="http://schemas.openxmlformats.org/officeDocument/2006/relationships/notesMaster" Target="/ppt/notesMasters/notesMaster1.xml" Id="Ra65c635fdc2d49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bb13ecb92241cd" /><Relationship Type="http://schemas.openxmlformats.org/officeDocument/2006/relationships/notesMaster" Target="/ppt/notesMasters/notesMaster1.xml" Id="R7638561d8b0d49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703a78a4af4a3d" /><Relationship Type="http://schemas.openxmlformats.org/officeDocument/2006/relationships/notesMaster" Target="/ppt/notesMasters/notesMaster1.xml" Id="Rd37bc2ab05244d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0b423352484c5b" /><Relationship Type="http://schemas.openxmlformats.org/officeDocument/2006/relationships/notesMaster" Target="/ppt/notesMasters/notesMaster1.xml" Id="R85bc72f5e8c947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eb0c2f66af4fb7" /><Relationship Type="http://schemas.openxmlformats.org/officeDocument/2006/relationships/notesMaster" Target="/ppt/notesMasters/notesMaster1.xml" Id="R80fd62cff58a48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414f5734ac4d3f" /><Relationship Type="http://schemas.openxmlformats.org/officeDocument/2006/relationships/notesMaster" Target="/ppt/notesMasters/notesMaster1.xml" Id="R9f835523b74d44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b1eb95f98544a1" /><Relationship Type="http://schemas.openxmlformats.org/officeDocument/2006/relationships/notesMaster" Target="/ppt/notesMasters/notesMaster1.xml" Id="Rf1e25eca51d34b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ec323250504989" /><Relationship Type="http://schemas.openxmlformats.org/officeDocument/2006/relationships/notesMaster" Target="/ppt/notesMasters/notesMaster1.xml" Id="R074c50d00c1e4c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4ff48d4a4b4f0f" /><Relationship Type="http://schemas.openxmlformats.org/officeDocument/2006/relationships/notesMaster" Target="/ppt/notesMasters/notesMaster1.xml" Id="R1ca749be124848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775477e1a64a4d" /><Relationship Type="http://schemas.openxmlformats.org/officeDocument/2006/relationships/notesMaster" Target="/ppt/notesMasters/notesMaster1.xml" Id="R4ceac55eec6b4e6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fc71ef8ab54e94" /><Relationship Type="http://schemas.openxmlformats.org/officeDocument/2006/relationships/notesMaster" Target="/ppt/notesMasters/notesMaster1.xml" Id="Rcd0baa63f1a5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Data at rest is not passive storage; it is an operational contract for downstream pipelines.</a:t>
            </a:r>
          </a:p>
          <a:p xmlns:a="http://schemas.openxmlformats.org/drawingml/2006/main">
            <a:r>
              <a:t>Learner question: What breaks when files land without naming, ownership, or retention decisions?</a:t>
            </a:r>
          </a:p>
          <a:p xmlns:a="http://schemas.openxmlformats.org/drawingml/2006/main">
            <a:r>
              <a:t>Teach now / defer: Teach the engineering decisions now. Defer detailed governance platforms to Week 3.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The day moves from architecture vocabulary into operational choices and hands-on evidence.</a:t>
            </a:r>
          </a:p>
          <a:p xmlns:a="http://schemas.openxmlformats.org/drawingml/2006/main">
            <a:r>
              <a:t>Learner question: Which stage sounds like architecture, and which stage sounds like operations?</a:t>
            </a:r>
          </a:p>
          <a:p xmlns:a="http://schemas.openxmlformats.org/drawingml/2006/main">
            <a:r>
              <a:t>Teach now / defer: Use this as the pacing contract. Skip details within sections, not the progression.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Data at rest sits between data movement and data use and can serve multiple engines.</a:t>
            </a:r>
          </a:p>
          <a:p xmlns:a="http://schemas.openxmlformats.org/drawingml/2006/main">
            <a:r>
              <a:t>Learner question: Where would you validate a file before allowing a dashboard to consume it?</a:t>
            </a:r>
          </a:p>
          <a:p xmlns:a="http://schemas.openxmlformats.org/drawingml/2006/main">
            <a:r>
              <a:t>Teach now / defer: Keep the flow conceptual. Orchestration and detailed ETL/ELT choices are Week 3 topics.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The four structures describe different purposes and operating models, not mutually exclusive maturity levels.</a:t>
            </a:r>
          </a:p>
          <a:p xmlns:a="http://schemas.openxmlformats.org/drawingml/2006/main">
            <a:r>
              <a:t>Learner question: Could claims data live in a lake while finance consumes a mart from the warehouse?</a:t>
            </a:r>
          </a:p>
          <a:p xmlns:a="http://schemas.openxmlformats.org/drawingml/2006/main">
            <a:r>
              <a:t>Teach now / defer: Teach purpose and consumer. Defer star/snowflake schemas, ACID internals, and physical design to Week 3.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Architecture is compositional: the same organization can use all four structures for different consumers.</a:t>
            </a:r>
          </a:p>
          <a:p xmlns:a="http://schemas.openxmlformats.org/drawingml/2006/main">
            <a:r>
              <a:t>Learner question: Which structure would you expose directly to an executive dashboard, and why?</a:t>
            </a:r>
          </a:p>
          <a:p xmlns:a="http://schemas.openxmlformats.org/drawingml/2006/main">
            <a:r>
              <a:t>Teach now / defer: Do not rank these as primitive to advanced. Defer product selection and detailed modeling.</a:t>
            </a:r>
          </a:p>
          <a:p xmlns:a="http://schemas.openxmlformats.org/drawingml/2006/main">
            <a:r>
              <a:t>Sources: https://docs.cloud.google.com/bigquery/docs/external-tables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Object storage and modern engines enable independent scaling; separation did not create object storage.</a:t>
            </a:r>
          </a:p>
          <a:p xmlns:a="http://schemas.openxmlformats.org/drawingml/2006/main">
            <a:r>
              <a:t>Learner question: What becomes easier - and what becomes your responsibility - when three engines read the same files?</a:t>
            </a:r>
          </a:p>
          <a:p xmlns:a="http://schemas.openxmlformats.org/drawingml/2006/main">
            <a:r>
              <a:t>Teach now / defer: Teach the benefit/responsibility trade-off. Defer engine architecture and workload tuning to Week 3.</a:t>
            </a:r>
          </a:p>
          <a:p xmlns:a="http://schemas.openxmlformats.org/drawingml/2006/main">
            <a:r>
              <a:t>Sources: https://docs.cloud.google.com/storage/docs/introduction | https://docs.aws.amazon.com/AmazonS3/latest/userguide/storage-class-intro.html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The container/object/name mental model transfers, while resource hierarchy, policy tools, and URIs differ.</a:t>
            </a:r>
          </a:p>
          <a:p xmlns:a="http://schemas.openxmlformats.org/drawingml/2006/main">
            <a:r>
              <a:t>Learner question: Which concepts are architecture, and which are provider vocabulary?</a:t>
            </a:r>
          </a:p>
          <a:p xmlns:a="http://schemas.openxmlformats.org/drawingml/2006/main">
            <a:r>
              <a:t>Teach now / defer: Teach translation only. Azure implementation and account hierarchy are outside today's scope.</a:t>
            </a:r>
          </a:p>
          <a:p xmlns:a="http://schemas.openxmlformats.org/drawingml/2006/main">
            <a:r>
              <a:t>Sources: https://docs.cloud.google.com/storage/docs/introduction | https://docs.aws.amazon.com/AmazonS3/latest/userguide/storage-class-intro.html | https://learn.microsoft.com/azure/storage/blobs/storage-blobs-introduction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Object storage uses containers and named objects; prefixes are organizational conventions unless a hierarchy feature is enabled.</a:t>
            </a:r>
          </a:p>
          <a:p xmlns:a="http://schemas.openxmlformats.org/drawingml/2006/main">
            <a:r>
              <a:t>Learner question: In gs://taxi-raw/raw/yellow/year=2026/file.parquet, what is the bucket, prefix, and object name?</a:t>
            </a:r>
          </a:p>
          <a:p xmlns:a="http://schemas.openxmlformats.org/drawingml/2006/main">
            <a:r>
              <a:t>Teach now / defer: Teach the portable mental model. Provider-specific hierarchy features are awareness-only.</a:t>
            </a:r>
          </a:p>
          <a:p xmlns:a="http://schemas.openxmlformats.org/drawingml/2006/main">
            <a:r>
              <a:t>Sources: https://docs.cloud.google.com/storage/docs/introduction | https://learn.microsoft.com/azure/storage/blobs/storage-blobs-introduction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Format choice affects schema fidelity, interoperability, compression, and query work.</a:t>
            </a:r>
          </a:p>
          <a:p xmlns:a="http://schemas.openxmlformats.org/drawingml/2006/main">
            <a:r>
              <a:t>Learner question: Which format would you choose for repeated aggregation over three columns of a wide dataset?</a:t>
            </a:r>
          </a:p>
          <a:p xmlns:a="http://schemas.openxmlformats.org/drawingml/2006/main">
            <a:r>
              <a:t>Teach now / defer: Teach decision factors, not encoding internals. Detailed format mechanics belong later.</a:t>
            </a:r>
          </a:p>
          <a:p xmlns:a="http://schemas.openxmlformats.org/drawingml/2006/main">
            <a:r>
              <a:t>Sources: https://docs.aws.amazon.com/athena/latest/ug/performance-tuning-data-optimization-techniques.html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Physical organization should match access patterns; columnar formats often reduce analytical scan work.</a:t>
            </a:r>
          </a:p>
          <a:p xmlns:a="http://schemas.openxmlformats.org/drawingml/2006/main">
            <a:r>
              <a:t>Learner question: If a query needs 3 of 100 columns, which layout can avoid reading most values?</a:t>
            </a:r>
          </a:p>
          <a:p xmlns:a="http://schemas.openxmlformats.org/drawingml/2006/main">
            <a:r>
              <a:t>Teach now / defer: Teach access intuition. Defer encoding, statistics, and predicate pushdown internals.</a:t>
            </a:r>
          </a:p>
          <a:p xmlns:a="http://schemas.openxmlformats.org/drawingml/2006/main">
            <a:r>
              <a:t>Sources: https://docs.aws.amazon.com/athena/latest/ug/performance-tuning-data-optimization-techniques.html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Efficient data lakes manage both bytes and file counts; compression alone cannot fix excessive small files.</a:t>
            </a:r>
          </a:p>
          <a:p xmlns:a="http://schemas.openxmlformats.org/drawingml/2006/main">
            <a:r>
              <a:t>Learner question: Why might 10,000 one-kilobyte files be slower than one ten-megabyte file?</a:t>
            </a:r>
          </a:p>
          <a:p xmlns:a="http://schemas.openxmlformats.org/drawingml/2006/main">
            <a:r>
              <a:t>Teach now / defer: Teach the problem and compaction idea. Defer engine-specific target sizes and tuning.</a:t>
            </a:r>
          </a:p>
          <a:p xmlns:a="http://schemas.openxmlformats.org/drawingml/2006/main">
            <a:r>
              <a:t>Sources: https://docs.aws.amazon.com/athena/latest/ug/performance-tuning-data-optimization-techniques.html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Zones separate data states and responsibilities so bad data is visible rather than silently mixed with trusted data.</a:t>
            </a:r>
          </a:p>
          <a:p xmlns:a="http://schemas.openxmlformats.org/drawingml/2006/main">
            <a:r>
              <a:t>Learner question: Where should a CSV with a missing header go, and who should be allowed to promote it?</a:t>
            </a:r>
          </a:p>
          <a:p xmlns:a="http://schemas.openxmlformats.org/drawingml/2006/main">
            <a:r>
              <a:t>Teach now / defer: Teach state transitions. Medallion architecture and detailed quality frameworks are Week 3 topics.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Consistent Hive-style date prefixes improve discoverability and can support partition pruning in compatible engines.</a:t>
            </a:r>
          </a:p>
          <a:p xmlns:a="http://schemas.openxmlformats.org/drawingml/2006/main">
            <a:r>
              <a:t>Learner question: Which parts of this path are stable dimensions, and which should stay inside the file?</a:t>
            </a:r>
          </a:p>
          <a:p xmlns:a="http://schemas.openxmlformats.org/drawingml/2006/main">
            <a:r>
              <a:t>Teach now / defer: Teach a portable convention. Defer BigQuery partition filter details and catalog automation.</a:t>
            </a:r>
          </a:p>
          <a:p xmlns:a="http://schemas.openxmlformats.org/drawingml/2006/main">
            <a:r>
              <a:t>Sources: https://docs.cloud.google.com/bigquery/docs/hive-partitioned-queries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Production storage design includes failure paths and replay behavior, not only the happy path.</a:t>
            </a:r>
          </a:p>
          <a:p xmlns:a="http://schemas.openxmlformats.org/drawingml/2006/main">
            <a:r>
              <a:t>Learner question: What happens if yesterday's file arrives today with the same name but different contents?</a:t>
            </a:r>
          </a:p>
          <a:p xmlns:a="http://schemas.openxmlformats.org/drawingml/2006/main">
            <a:r>
              <a:t>Teach now / defer: Teach policy questions. Defer implementation patterns and streaming semantics to later weeks.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Lifecycle is a business access pattern expressed through storage policies, not simply data age.</a:t>
            </a:r>
          </a:p>
          <a:p xmlns:a="http://schemas.openxmlformats.org/drawingml/2006/main">
            <a:r>
              <a:t>Learner question: Would a seven-year archive and last week's rerun data use the same tier?</a:t>
            </a:r>
          </a:p>
          <a:p xmlns:a="http://schemas.openxmlformats.org/drawingml/2006/main">
            <a:r>
              <a:t>Teach now / defer: Teach hot/warm/cold/archive. Provider class names and minimum durations are lab references.</a:t>
            </a:r>
          </a:p>
          <a:p xmlns:a="http://schemas.openxmlformats.org/drawingml/2006/main">
            <a:r>
              <a:t>Sources: https://docs.cloud.google.com/storage/docs/lifecycle | https://docs.aws.amazon.com/AmazonS3/latest/userguide/storage-class-intro.html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Lifecycle automates actions, recovery controls preserve history, and retention/lock controls prevent early deletion.</a:t>
            </a:r>
          </a:p>
          <a:p xmlns:a="http://schemas.openxmlformats.org/drawingml/2006/main">
            <a:r>
              <a:t>Learner question: Which control addresses accidental overwrite, and which enforces seven-year minimum retention?</a:t>
            </a:r>
          </a:p>
          <a:p xmlns:a="http://schemas.openxmlformats.org/drawingml/2006/main">
            <a:r>
              <a:t>Teach now / defer: Teach control purpose and reversibility. Detailed legal policy and lock execution remain optional.</a:t>
            </a:r>
          </a:p>
          <a:p xmlns:a="http://schemas.openxmlformats.org/drawingml/2006/main">
            <a:r>
              <a:t>Sources: https://docs.cloud.google.com/storage/docs/lifecycle | https://docs.cloud.google.com/storage/docs/soft-delete | https://docs.cloud.google.com/storage/docs/object-versioning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Schema-on-read supports flexible exploration; schema-on-write creates stable consumer contracts.</a:t>
            </a:r>
          </a:p>
          <a:p xmlns:a="http://schemas.openxmlformats.org/drawingml/2006/main">
            <a:r>
              <a:t>Learner question: What must an engine know before it can interpret a CSV object?</a:t>
            </a:r>
          </a:p>
          <a:p xmlns:a="http://schemas.openxmlformats.org/drawingml/2006/main">
            <a:r>
              <a:t>Teach now / defer: Teach the trade-off. Detailed ETL/ELT architecture and schema evolution belong in Week 3.</a:t>
            </a:r>
          </a:p>
          <a:p xmlns:a="http://schemas.openxmlformats.org/drawingml/2006/main">
            <a:r>
              <a:t>Sources: https://docs.cloud.google.com/bigquery/docs/external-tables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An external table supplies metadata so SQL can interpret files without first loading them into native storage.</a:t>
            </a:r>
          </a:p>
          <a:p xmlns:a="http://schemas.openxmlformats.org/drawingml/2006/main">
            <a:r>
              <a:t>Learner question: When would you query a new partition in place before publishing it?</a:t>
            </a:r>
          </a:p>
          <a:p xmlns:a="http://schemas.openxmlformats.org/drawingml/2006/main">
            <a:r>
              <a:t>Teach now / defer: Teach the decision rule. Detailed BigQuery optimization and Athena tuning come later.</a:t>
            </a:r>
          </a:p>
          <a:p xmlns:a="http://schemas.openxmlformats.org/drawingml/2006/main">
            <a:r>
              <a:t>Sources: https://docs.cloud.google.com/bigquery/docs/external-tables | https://docs.cloud.google.com/bigquery/docs/external-data-cloud-storage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The lab converts concepts into observable behavior while preserving a no-permission completion path.</a:t>
            </a:r>
          </a:p>
          <a:p xmlns:a="http://schemas.openxmlformats.org/drawingml/2006/main">
            <a:r>
              <a:t>Learner question: Which step proves a claim rather than only configuring a setting?</a:t>
            </a:r>
          </a:p>
          <a:p xmlns:a="http://schemas.openxmlformats.org/drawingml/2006/main">
            <a:r>
              <a:t>Teach now / defer: Signed URLs and S3 translation are optional. Keep the core path private and permission-safe.</a:t>
            </a:r>
          </a:p>
          <a:p xmlns:a="http://schemas.openxmlformats.org/drawingml/2006/main">
            <a:r>
              <a:t>Sources: https://docs.cloud.google.com/storage/docs/introduction | https://docs.cloud.google.com/storage/docs/object-versioning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The activities move from individual evidence to a shared team operating contract.</a:t>
            </a:r>
          </a:p>
          <a:p xmlns:a="http://schemas.openxmlformats.org/drawingml/2006/main">
            <a:r>
              <a:t>Learner question: What would make an external query useful today but a native warehouse table better later?</a:t>
            </a:r>
          </a:p>
          <a:p xmlns:a="http://schemas.openxmlformats.org/drawingml/2006/main">
            <a:r>
              <a:t>Teach now / defer: Keep SQL copy/paste-friendly. Optional Athena and Bucket Lock activities remain extensions.</a:t>
            </a:r>
          </a:p>
          <a:p xmlns:a="http://schemas.openxmlformats.org/drawingml/2006/main">
            <a:r>
              <a:t>Sources: https://docs.cloud.google.com/bigquery/docs/external-data-cloud-storage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point: Learners should leave with a portable mental model and an explicit Day 5 storage contract.</a:t>
            </a:r>
          </a:p>
          <a:p xmlns:a="http://schemas.openxmlformats.org/drawingml/2006/main">
            <a:r>
              <a:t>Learner question: Which decision from today will most affect tomorrow's pipeline reliability?</a:t>
            </a:r>
          </a:p>
          <a:p xmlns:a="http://schemas.openxmlformats.org/drawingml/2006/main">
            <a:r>
              <a:t>Teach now / defer: Collect the exit ticket. Use weak answers to open the Day 5 recap.</a:t>
            </a:r>
          </a:p>
          <a:p xmlns:a="http://schemas.openxmlformats.org/drawingml/2006/main">
            <a:r>
              <a:t>Sources: https://docs.cloud.google.com/storage/docs/introduction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9b15a5a8b4d1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603f85b2554dcc" /><Relationship Type="http://schemas.openxmlformats.org/officeDocument/2006/relationships/slideLayout" Target="/ppt/slideLayouts/slideLayout1.xml" Id="R6f4a9e5bc0904d9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a9e5bc0904d9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77cac907343fb" /><Relationship Type="http://schemas.openxmlformats.org/officeDocument/2006/relationships/notesSlide" Target="/ppt/notesSlides/notesSlide1.xml" Id="R063b641faaa545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09642a7f441f" /><Relationship Type="http://schemas.openxmlformats.org/officeDocument/2006/relationships/notesSlide" Target="/ppt/notesSlides/notesSlide2.xml" Id="R6f3f9b263ed44a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a842b76749ab" /><Relationship Type="http://schemas.openxmlformats.org/officeDocument/2006/relationships/notesSlide" Target="/ppt/notesSlides/notesSlide3.xml" Id="Rfa16421230dd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5dfc52964344" /><Relationship Type="http://schemas.openxmlformats.org/officeDocument/2006/relationships/notesSlide" Target="/ppt/notesSlides/notesSlide4.xml" Id="Rb9cc35a6e3d7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de745af3c4396" /><Relationship Type="http://schemas.openxmlformats.org/officeDocument/2006/relationships/notesSlide" Target="/ppt/notesSlides/notesSlide5.xml" Id="Rba9dfc388b6a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0f5e257bb491d" /><Relationship Type="http://schemas.openxmlformats.org/officeDocument/2006/relationships/notesSlide" Target="/ppt/notesSlides/notesSlide6.xml" Id="Rd7c927160d5d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bb8a312634ec8" /><Relationship Type="http://schemas.openxmlformats.org/officeDocument/2006/relationships/notesSlide" Target="/ppt/notesSlides/notesSlide7.xml" Id="R73c6acc2c0c74b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2d9518fb48ac" /><Relationship Type="http://schemas.openxmlformats.org/officeDocument/2006/relationships/notesSlide" Target="/ppt/notesSlides/notesSlide8.xml" Id="Rafe2a03236f245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ea1361d28404e" /><Relationship Type="http://schemas.openxmlformats.org/officeDocument/2006/relationships/notesSlide" Target="/ppt/notesSlides/notesSlide9.xml" Id="Race3138a3b424a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b058ba93f4cf0" /><Relationship Type="http://schemas.openxmlformats.org/officeDocument/2006/relationships/notesSlide" Target="/ppt/notesSlides/notesSlide10.xml" Id="R765a11efc33a4e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b8f498bd44f1" /><Relationship Type="http://schemas.openxmlformats.org/officeDocument/2006/relationships/notesSlide" Target="/ppt/notesSlides/notesSlide11.xml" Id="R5aa43e9b828848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79557485f48ab" /><Relationship Type="http://schemas.openxmlformats.org/officeDocument/2006/relationships/notesSlide" Target="/ppt/notesSlides/notesSlide12.xml" Id="Rd3870f3f696f47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ecdb98a4f4dee" /><Relationship Type="http://schemas.openxmlformats.org/officeDocument/2006/relationships/notesSlide" Target="/ppt/notesSlides/notesSlide13.xml" Id="R6ec9d55d221142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92d5d3334cbe" /><Relationship Type="http://schemas.openxmlformats.org/officeDocument/2006/relationships/notesSlide" Target="/ppt/notesSlides/notesSlide14.xml" Id="R2a2050ed7bbb4c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e452fe01e48f6" /><Relationship Type="http://schemas.openxmlformats.org/officeDocument/2006/relationships/notesSlide" Target="/ppt/notesSlides/notesSlide15.xml" Id="R7cf10c73eb5849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6dcddea694b52" /><Relationship Type="http://schemas.openxmlformats.org/officeDocument/2006/relationships/notesSlide" Target="/ppt/notesSlides/notesSlide16.xml" Id="R09f6a9a98ce34b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575e788e742be" /><Relationship Type="http://schemas.openxmlformats.org/officeDocument/2006/relationships/notesSlide" Target="/ppt/notesSlides/notesSlide17.xml" Id="Ree0728aca15c48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2f9dfb6784d03" /><Relationship Type="http://schemas.openxmlformats.org/officeDocument/2006/relationships/notesSlide" Target="/ppt/notesSlides/notesSlide18.xml" Id="R94c1d096f8044a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68a984e64e7d" /><Relationship Type="http://schemas.openxmlformats.org/officeDocument/2006/relationships/notesSlide" Target="/ppt/notesSlides/notesSlide19.xml" Id="R5ffb33e547b447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dc92b602c4a7f" /><Relationship Type="http://schemas.openxmlformats.org/officeDocument/2006/relationships/notesSlide" Target="/ppt/notesSlides/notesSlide20.xml" Id="Re8b8de3b024745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551fe0b6346cb" /><Relationship Type="http://schemas.openxmlformats.org/officeDocument/2006/relationships/notesSlide" Target="/ppt/notesSlides/notesSlide21.xml" Id="R0a279aa8b63e44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0d0025efe453b" /><Relationship Type="http://schemas.openxmlformats.org/officeDocument/2006/relationships/notesSlide" Target="/ppt/notesSlides/notesSlide22.xml" Id="R648fa3b2251c44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D1F9FA-92DE-431C-91DF-91557E2E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8B5591-F14F-4191-B5CD-921C82B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82296"/>
            <a:ext cx="2834640" cy="50612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179DA5-6445-43A3-B17A-291E689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292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Week 1</a:t>
            </a:r>
          </a:p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Day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9BC6B7-3E9B-4CA5-9F15-F8480C43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43B2AC-037F-4A5E-B24F-6C053FC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20"/>
            <a:ext cx="246888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Architectures &amp; separation</a:t>
            </a:r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Formats &amp; landing zones</a:t>
            </a:r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Lifecycle &amp; protection</a:t>
            </a:r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Query-in-place</a:t>
            </a:r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Hands-on labs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54E614-DDCC-4572-8F58-E8783178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539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TECHCATALYST DE 2026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EE2EE2-A051-49F6-8E79-2B1E60A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91640"/>
            <a:ext cx="53949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Data at Rest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02FAC4-0B5E-4EE8-B15D-97CAF2D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0"/>
            <a:ext cx="5212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Object storage, analytical structures, lifecycle, and query-in-place.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5C9A1A-91C8-4A90-B39A-4BF96813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The Hartford  ·  TechCatalyst Data Engineering 2026</a:t>
            </a:r>
          </a:p>
        </p:txBody>
      </p:sp>
    </p:spTree>
    <p:extLst>
      <p:ext uri="{BB962C8B-B14F-4D97-AF65-F5344CB8AC3E}">
        <p14:creationId xmlns:p14="http://schemas.microsoft.com/office/powerpoint/2010/main" val="540403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CF7225-E0AC-4441-9AAE-92AB0AB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BE85DB-B338-46AA-A03D-2469475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WHY THIS MATTERS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AE6935-5380-49E0-AFDB-7D02A6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Data at rest is an engineered layer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084969-D0B0-4F6F-B432-F04DB1F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E8BAD1-7261-47AE-B0B2-47AD727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DADCF9-40B7-4B72-8AE5-AB7B490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7A8D39-5175-48DB-8BE7-C03A6B4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4D5B04-6B07-443D-8032-84DC1D8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Durable foundation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D39511-43EA-444C-AD2B-BC59C18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Pipelines need a reliable place to land raw data before every use is known.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2A7710-5B4C-449A-B79A-F4D94DE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223A3C-E175-4E68-B267-10949E1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6EFCCA-D931-4825-A001-D770895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Shared contract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9DE25D-4D5A-42DF-8C34-D363A56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Names, formats, schemas, and zones let teams and engines interpret the same data.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606DDD-9191-4646-803E-A85D2E5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10E3EA-531E-4DC6-AB4E-926344D6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0241E8-B520-42D3-9FA5-3B7DF32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Cost and risk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84F78B-0AD2-4EEF-BC8E-D0AC5B3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Access tiers, IAM, recovery, and retention determine operating cost and exposure.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7D280-C2C0-4C67-A165-10A4895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The bucket is only the start. Organization, controls, metadata, and compute make stored data useful.</a:t>
            </a:r>
          </a:p>
        </p:txBody>
      </p:sp>
    </p:spTree>
    <p:extLst>
      <p:ext uri="{BB962C8B-B14F-4D97-AF65-F5344CB8AC3E}">
        <p14:creationId xmlns:p14="http://schemas.microsoft.com/office/powerpoint/2010/main" val="1981375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CF7225-E0AC-4441-9AAE-92AB0AB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BE85DB-B338-46AA-A03D-2469475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DAY MAP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AE6935-5380-49E0-AFDB-7D02A6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Place → organize → protect → query → operate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084969-D0B0-4F6F-B432-F04DB1F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E8BAD1-7261-47AE-B0B2-47AD727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DADCF9-40B7-4B72-8AE5-AB7B490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7A8D39-5175-48DB-8BE7-C03A6B4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4D5B04-6B07-443D-8032-84DC1D8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Place and compare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D39511-43EA-444C-AD2B-BC59C18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1. Place object storage in a pipeline.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2. Compare lake, lakehouse, warehouse, and mart.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2A7710-5B4C-449A-B79A-F4D94DE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223A3C-E175-4E68-B267-10949E1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6EFCCA-D931-4825-A001-D770895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Organize and protect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9DE25D-4D5A-42DF-8C34-D363A56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3. Explain storage/compute separation.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4. Choose formats, prefixes, zones, and lifecycle tiers.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606DDD-9191-4646-803E-A85D2E5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10E3EA-531E-4DC6-AB4E-926344D6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0241E8-B520-42D3-9FA5-3B7DF32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Query and operate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84F78B-0AD2-4EEF-BC8E-D0AC5B3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5. Distinguish recovery and retention controls.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6. Build and query a secure landing zone.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7D280-C2C0-4C67-A165-10A4895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Today builds the storage contract that tomorrow's NYC Taxi pipeline will use.</a:t>
            </a:r>
          </a:p>
        </p:txBody>
      </p:sp>
    </p:spTree>
    <p:extLst>
      <p:ext uri="{BB962C8B-B14F-4D97-AF65-F5344CB8AC3E}">
        <p14:creationId xmlns:p14="http://schemas.microsoft.com/office/powerpoint/2010/main" val="1981375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1BB74C-5AA9-422C-B3B5-7B287A4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E12BF-29BC-4CE5-BBAD-03BCFE6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PIPELINE VIEW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1D364E-884E-4996-8966-A7585C6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Data at rest connects movement to use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7DC404-03FB-4725-8A22-8303180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E01715-59C7-4B2F-BA25-3C8241C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30F88F-4479-42EB-B795-4884DD1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2CEC89-2169-415F-A9C8-A9329EE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Sources and ingest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07314A-0335-4A9C-89AD-F42232A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Apps, files, APIs, events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9FBF6C-1477-454F-8200-F9DDA10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42107-BAE5-455B-848D-304FC0E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Data at rest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628F15-E083-4D1E-8616-7B36BEA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Objects, files, tables, metadata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5F5416-3A9D-4820-8040-827ED0C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25603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  <a:ln xmlns:a="http://schemas.openxmlformats.org/drawingml/2006/main" w="12700">
            <a:solidFill>
              <a:srgbClr val="B2222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657C75-5069-456D-96B4-A2283E5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14830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Compute and consumers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3FC8B37-CE74-4ECE-893C-30EA287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77517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SQL, Spark, BI, ML, APIs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740C1C4-C9F7-4C87-BF9F-0FD790A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9E9D11-3421-443C-A0E7-8B8500B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8278A4F-ADE7-4783-81A0-F40A286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813816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1. Ingest moves data; storage preserves it.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2. Multiple engines may read the same durable data.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3. Layout, schema, IAM, and lifecycle travel with the data contract.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4. Day 5 adds pipeline movement around this stored layer.</a:t>
            </a:r>
          </a:p>
        </p:txBody>
      </p:sp>
    </p:spTree>
    <p:extLst>
      <p:ext uri="{BB962C8B-B14F-4D97-AF65-F5344CB8AC3E}">
        <p14:creationId xmlns:p14="http://schemas.microsoft.com/office/powerpoint/2010/main" val="323404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4FBE45-666A-4EC3-981B-94EF8ED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38EECE-343F-4A44-BB89-6312570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ARCHITECTURE VOCABULARY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C1BB51-4CC6-4767-9744-4F5C8DD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Lake, lakehouse, warehouse, and mart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173D20-566F-4912-874F-A9A2F34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092C00-6CDE-4E36-B951-A8C9EF0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5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02920" y="123444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4480"/>
                <a:gridCol w="2103120"/>
                <a:gridCol w="1737360"/>
                <a:gridCol w="27432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Structure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Purpose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Contents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Consumers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Data lake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Varied data at scale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Raw / processed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Engineers / science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Lakehouse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Governed reliable lake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Open tables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Eng / analyst / science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Data warehouse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Optimized SQL + reports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Curated tables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BI / business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Data mart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Domain subset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Focused metrics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Department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B57EEC1-78ED-4AEA-A95D-9735E0E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These structures can coexist. Choose by purpose, consumers, governance, and workload - not by trend.</a:t>
            </a:r>
          </a:p>
        </p:txBody>
      </p:sp>
    </p:spTree>
    <p:extLst>
      <p:ext uri="{BB962C8B-B14F-4D97-AF65-F5344CB8AC3E}">
        <p14:creationId xmlns:p14="http://schemas.microsoft.com/office/powerpoint/2010/main" val="500939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A2B0B2-499E-42F5-B92D-3EF700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EF36E2-A6BE-47C6-A9B3-0C3DD7D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DECISION POINT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ADC5D5-465F-4D64-906F-26C18F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One company may use all four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5C26A-36E1-4B98-9261-F8858AF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545D9-51D8-4DE3-A825-660754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E4836E-9BEF-4B5C-AF75-78C76AD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4D846-C1E0-4015-8280-3AF5E3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1A278-97BD-4E39-87BF-B070077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Lake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0BFF5F-3818-4E21-9D85-7C3BDF3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Land raw policy and claims files before all future uses are known.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E0DE79-E6A9-4613-BC84-2BAFBF1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CACDAB-1B55-4F8C-B624-98CB640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9A05C-EB00-494F-B942-0BE8D47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Lakehouse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6E2DE-15BD-48F6-8D3F-A18909B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Give shared object data table metadata, snapshots, and reliable updates.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341670-B925-4168-8532-AA4E5F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A02BDFC-5380-4944-88B4-AE683D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7AE740-8D3C-4DE8-9456-9CFD525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Warehouse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839014-A0CA-4B5A-B875-61FF038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Publish governed analytical tables for repeatable SQL and BI.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848B39-5CB2-49C8-841F-EDD3240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A67E6D-C175-43ED-9FE8-1170BA8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BEF061-AF58-438B-873A-84A6307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Data mart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D3883-ED9A-4C22-8587-8AF0A89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Expose a focused claims or finance view for one business domain.</a:t>
            </a:r>
          </a:p>
        </p:txBody>
      </p:sp>
    </p:spTree>
    <p:extLst>
      <p:ext uri="{BB962C8B-B14F-4D97-AF65-F5344CB8AC3E}">
        <p14:creationId xmlns:p14="http://schemas.microsoft.com/office/powerpoint/2010/main" val="502251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1BB74C-5AA9-422C-B3B5-7B287A4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E12BF-29BC-4CE5-BBAD-03BCFE6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CORE PRINCIPLE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1D364E-884E-4996-8966-A7585C6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Storage and compute can scale independently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7DC404-03FB-4725-8A22-8303180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E01715-59C7-4B2F-BA25-3C8241C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7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30F88F-4479-42EB-B795-4884DD1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2CEC89-2169-415F-A9C8-A9329EE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Durable storage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07314A-0335-4A9C-89AD-F42232A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Amazon S3, Cloud Storage, object stores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9FBF6C-1477-454F-8200-F9DDA10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42107-BAE5-455B-848D-304FC0E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Elastic engines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628F15-E083-4D1E-8616-7B36BEA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BigQuery, Athena, Spark, warehouses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5F5416-3A9D-4820-8040-827ED0C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25603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  <a:ln xmlns:a="http://schemas.openxmlformats.org/drawingml/2006/main" w="12700">
            <a:solidFill>
              <a:srgbClr val="B2222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657C75-5069-456D-96B4-A2283E5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14830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Many workloads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3FC8B37-CE74-4ECE-893C-30EA287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77517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Exploration, pipelines, BI, ML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740C1C4-C9F7-4C87-BF9F-0FD790A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9E9D11-3421-443C-A0E7-8B8500B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8278A4F-ADE7-4783-81A0-F40A286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813816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1. Object storage provides durable, independently scalable storage.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2. Modern engines can read shared data and scale compute separately.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3. Benefits: elastic capacity, multiple engines, independent cost controls.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4. Responsibilities: layout, metadata, governance, quality, and scan cost.</a:t>
            </a:r>
          </a:p>
        </p:txBody>
      </p:sp>
    </p:spTree>
    <p:extLst>
      <p:ext uri="{BB962C8B-B14F-4D97-AF65-F5344CB8AC3E}">
        <p14:creationId xmlns:p14="http://schemas.microsoft.com/office/powerpoint/2010/main" val="32340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4FBE45-666A-4EC3-981B-94EF8ED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38EECE-343F-4A44-BB89-6312570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CROSS-CLOUD TRANSLATION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C1BB51-4CC6-4767-9744-4F5C8DD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The object-storage mental model transfers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173D20-566F-4912-874F-A9A2F34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092C00-6CDE-4E36-B951-A8C9EF0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8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02920" y="123444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4480"/>
                <a:gridCol w="2103120"/>
                <a:gridCol w="1737360"/>
                <a:gridCol w="27432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Concept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Google Cloud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AWS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Azure term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Container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Bucket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Bucket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Account + container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Stored item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Object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Object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Blob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Identifier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Object name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Object key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Blob name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URI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gs://...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s3://...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HTTPS / abfss://...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B57EEC1-78ED-4AEA-A95D-9735E0E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GCP and AWS remain today's equal comparison. Azure appears here only so the vocabulary is portable.</a:t>
            </a:r>
          </a:p>
        </p:txBody>
      </p:sp>
    </p:spTree>
    <p:extLst>
      <p:ext uri="{BB962C8B-B14F-4D97-AF65-F5344CB8AC3E}">
        <p14:creationId xmlns:p14="http://schemas.microsoft.com/office/powerpoint/2010/main" val="5009392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1BB74C-5AA9-422C-B3B5-7B287A4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E12BF-29BC-4CE5-BBAD-03BCFE6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OBJECT STORAGE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1D364E-884E-4996-8966-A7585C6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Container -&gt; object -&gt; organized name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7DC404-03FB-4725-8A22-8303180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E01715-59C7-4B2F-BA25-3C8241C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30F88F-4479-42EB-B795-4884DD1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2CEC89-2169-415F-A9C8-A9329EE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Project / account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07314A-0335-4A9C-89AD-F42232A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Billing, policy, ownership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9FBF6C-1477-454F-8200-F9DDA10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42107-BAE5-455B-848D-304FC0E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Bucket / container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628F15-E083-4D1E-8616-7B36BEA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Location and access boundary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5F5416-3A9D-4820-8040-827ED0C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25603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  <a:ln xmlns:a="http://schemas.openxmlformats.org/drawingml/2006/main" w="12700">
            <a:solidFill>
              <a:srgbClr val="B2222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657C75-5069-456D-96B4-A2283E5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14830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Object / blob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3FC8B37-CE74-4ECE-893C-30EA287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77517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Bytes + metadata + name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740C1C4-C9F7-4C87-BF9F-0FD790A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9E9D11-3421-443C-A0E7-8B8500B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8278A4F-ADE7-4783-81A0-F40A286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813816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1. Prefixes organize names; they are not automatically separate directories.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2. Store CSV, JSON, Parquet, Avro, images, or documents.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3. Objects are accessed through APIs and URIs, not edited like disk blocks.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4. Naming conventions are part of the data contract.</a:t>
            </a:r>
          </a:p>
        </p:txBody>
      </p:sp>
    </p:spTree>
    <p:extLst>
      <p:ext uri="{BB962C8B-B14F-4D97-AF65-F5344CB8AC3E}">
        <p14:creationId xmlns:p14="http://schemas.microsoft.com/office/powerpoint/2010/main" val="323404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A2B0B2-499E-42F5-B92D-3EF700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EF36E2-A6BE-47C6-A9B3-0C3DD7D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FILE FORMATS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ADC5D5-465F-4D64-906F-26C18F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Choose a format for how data will be used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5C26A-36E1-4B98-9261-F8858AF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545D9-51D8-4DE3-A825-660754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E4836E-9BEF-4B5C-AF75-78C76AD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4D846-C1E0-4015-8280-3AF5E3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1A278-97BD-4E39-87BF-B070077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CSV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0BFF5F-3818-4E21-9D85-7C3BDF3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Human-readable rows. Simple exchange, weak types, costly repeated analytics.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E0DE79-E6A9-4613-BC84-2BAFBF1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CACDAB-1B55-4F8C-B624-98CB640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9A05C-EB00-494F-B942-0BE8D47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JSON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6E2DE-15BD-48F6-8D3F-A18909B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Flexible nested records. Good for events/APIs, verbose and schema-variable.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341670-B925-4168-8532-AA4E5F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A02BDFC-5380-4944-88B4-AE683D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7AE740-8D3C-4DE8-9456-9CFD525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Parquet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839014-A0CA-4B5A-B875-61FF038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Columnar + compressed. Strong default for analytical scans.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848B39-5CB2-49C8-841F-EDD3240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A67E6D-C175-43ED-9FE8-1170BA8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BEF061-AF58-438B-873A-84A6307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Avro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D3883-ED9A-4C22-8587-8AF0A89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Row-oriented binary + schema. Useful for record exchange and streaming.</a:t>
            </a:r>
          </a:p>
        </p:txBody>
      </p:sp>
    </p:spTree>
    <p:extLst>
      <p:ext uri="{BB962C8B-B14F-4D97-AF65-F5344CB8AC3E}">
        <p14:creationId xmlns:p14="http://schemas.microsoft.com/office/powerpoint/2010/main" val="5022515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A2B0B2-499E-42F5-B92D-3EF700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EF36E2-A6BE-47C6-A9B3-0C3DD7D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ACCESS PATTERNS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ADC5D5-465F-4D64-906F-26C18F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Rows answer records; columns answer analytics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5C26A-36E1-4B98-9261-F8858AF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545D9-51D8-4DE3-A825-660754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E4836E-9BEF-4B5C-AF75-78C76AD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4D846-C1E0-4015-8280-3AF5E3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1A278-97BD-4E39-87BF-B070077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Row-oriented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0BFF5F-3818-4E21-9D85-7C3BDF3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Values for one record stay together. Efficient for whole-record reads.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E0DE79-E6A9-4613-BC84-2BAFBF1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CACDAB-1B55-4F8C-B624-98CB640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9A05C-EB00-494F-B942-0BE8D47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Columnar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6E2DE-15BD-48F6-8D3F-A18909B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Values for one field stay together. Engines can skip unneeded columns.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341670-B925-4168-8532-AA4E5F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A02BDFC-5380-4944-88B4-AE683D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7AE740-8D3C-4DE8-9456-9CFD525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CSV / JSON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839014-A0CA-4B5A-B875-61FF038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Easy to inspect, but repeated parsing and broad scans add work.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848B39-5CB2-49C8-841F-EDD3240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A67E6D-C175-43ED-9FE8-1170BA8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BEF061-AF58-438B-873A-84A6307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Parquet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D3883-ED9A-4C22-8587-8AF0A89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Column pruning + compression reduce I/O for analytical queries.</a:t>
            </a:r>
          </a:p>
        </p:txBody>
      </p:sp>
    </p:spTree>
    <p:extLst>
      <p:ext uri="{BB962C8B-B14F-4D97-AF65-F5344CB8AC3E}">
        <p14:creationId xmlns:p14="http://schemas.microsoft.com/office/powerpoint/2010/main" val="502251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CF7225-E0AC-4441-9AAE-92AB0AB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BE85DB-B338-46AA-A03D-2469475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PHYSICAL DESIGN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AE6935-5380-49E0-AFDB-7D02A6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Compression helps; thousands of tiny files do not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084969-D0B0-4F6F-B432-F04DB1F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E8BAD1-7261-47AE-B0B2-47AD727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DADCF9-40B7-4B72-8AE5-AB7B490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7A8D39-5175-48DB-8BE7-C03A6B4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4D5B04-6B07-443D-8032-84DC1D8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Compression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D39511-43EA-444C-AD2B-BC59C18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Fewer bytes stored and transferred. Codec choice trades CPU for size and compatibility.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2A7710-5B4C-449A-B79A-F4D94DE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223A3C-E175-4E68-B267-10949E1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6EFCCA-D931-4825-A001-D770895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File size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9DE25D-4D5A-42DF-8C34-D363A56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Larger analytical files reduce per-file overhead and improve parallel scan efficiency.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606DDD-9191-4646-803E-A85D2E5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10E3EA-531E-4DC6-AB4E-926344D6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0241E8-B520-42D3-9FA5-3B7DF32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Small-file problem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84F78B-0AD2-4EEF-BC8E-D0AC5B3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Too many tiny files increase listings, metadata work, task setup, and cost.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7D280-C2C0-4C67-A165-10A4895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Do not memorize one perfect size today. Observe the workload, then compact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9813754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A2B0B2-499E-42F5-B92D-3EF700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EF36E2-A6BE-47C6-A9B3-0C3DD7D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LANDING ZONES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ADC5D5-465F-4D64-906F-26C18F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Give each data state a clear home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5C26A-36E1-4B98-9261-F8858AF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545D9-51D8-4DE3-A825-660754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13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E4836E-9BEF-4B5C-AF75-78C76AD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4D846-C1E0-4015-8280-3AF5E3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1A278-97BD-4E39-87BF-B070077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Raw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0BFF5F-3818-4E21-9D85-7C3BDF3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Original immutable arrival. Restricted access; preserve evidence and replay ability.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E0DE79-E6A9-4613-BC84-2BAFBF1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CACDAB-1B55-4F8C-B624-98CB640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9A05C-EB00-494F-B942-0BE8D47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Quarantine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6E2DE-15BD-48F6-8D3F-A18909B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Malformed, unsafe, or policy-failing files awaiting review.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341670-B925-4168-8532-AA4E5F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A02BDFC-5380-4944-88B4-AE683D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7AE740-8D3C-4DE8-9456-9CFD525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Processed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839014-A0CA-4B5A-B875-61FF038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Validated, standardized, deduplicated, and efficient formats.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848B39-5CB2-49C8-841F-EDD3240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A67E6D-C175-43ED-9FE8-1170BA8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BEF061-AF58-438B-873A-84A6307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Curated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D3883-ED9A-4C22-8587-8AF0A89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Consumer-ready datasets with stable meaning, ownership, and quality.</a:t>
            </a:r>
          </a:p>
        </p:txBody>
      </p:sp>
    </p:spTree>
    <p:extLst>
      <p:ext uri="{BB962C8B-B14F-4D97-AF65-F5344CB8AC3E}">
        <p14:creationId xmlns:p14="http://schemas.microsoft.com/office/powerpoint/2010/main" val="502251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EB6D57-B8D0-4D00-9C87-8E78BAFC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42BCFE-4BDF-4B43-B5BE-D112E58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NAMING CONTRACT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08BE62-F780-4C8E-B075-BCC2520E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Prefixes make time and state discoverable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53B35A-887C-4303-AFA5-F76CBCA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BF8399-9099-4CCD-8243-AFB1DE8F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0265483-AB18-4893-B85F-8A2243CC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95AC43F-0581-4927-AF39-DF6A142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7724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zone + dataset + date convention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raw/yellow/year=2026/month=06/day=22/trips.csv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quarantine/yellow/year=2026/month=06/day=22/bad.csv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processed/yellow/year=2026/month=06/day=22/part.parquet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curated/trips_daily/year=2026/month=06/day=22/part.parquet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8E8E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the same Hive-style keys transfer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gs://taxi-data/processed/yellow/year=2026/month=06/day=22/</a:t>
            </a:r>
          </a:p>
          <a:p xmlns:a="http://schemas.openxmlformats.org/drawingml/2006/main">
            <a:pPr marL="0" indent="0">
              <a:buNone/>
              <a:defRPr sz="105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s3://taxi-data/processed/yellow/year=2026/month=06/day=22/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2E9A16-FE63-4235-8767-896165B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Names should encode stable query dimensions, not every attribute. Avoid secrets, PII, and mutable business labels in object names.</a:t>
            </a:r>
          </a:p>
        </p:txBody>
      </p:sp>
    </p:spTree>
    <p:extLst>
      <p:ext uri="{BB962C8B-B14F-4D97-AF65-F5344CB8AC3E}">
        <p14:creationId xmlns:p14="http://schemas.microsoft.com/office/powerpoint/2010/main" val="10482415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CF7225-E0AC-4441-9AAE-92AB0AB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BE85DB-B338-46AA-A03D-24694753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OPERATING REALITY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AE6935-5380-49E0-AFDB-7D02A6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Late, duplicate, and malformed files need policies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084969-D0B0-4F6F-B432-F04DB1F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E8BAD1-7261-47AE-B0B2-47AD727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15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DADCF9-40B7-4B72-8AE5-AB7B490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7A8D39-5175-48DB-8BE7-C03A6B4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4D5B04-6B07-443D-8032-84DC1D8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Late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D39511-43EA-444C-AD2B-BC59C18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Land in the correct event-date partition, record arrival time, and define reprocessing rules.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F2A7710-5B4C-449A-B79A-F4D94DE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6223A3C-E175-4E68-B267-10949E1B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6EFCCA-D931-4825-A001-D770895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Duplicate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9DE25D-4D5A-42DF-8C34-D363A56D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Use stable file/event identifiers, idempotent writes, and deduplication checkpoints.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606DDD-9191-4646-803E-A85D2E5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260604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10E3EA-531E-4DC6-AB4E-926344D6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280160"/>
            <a:ext cx="5029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00241E8-B520-42D3-9FA5-3B7DF32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3898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Malformed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84F78B-0AD2-4EEF-BC8E-D0AC5B3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737360"/>
            <a:ext cx="2295144" cy="2176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Quarantine with reason metadata; never silently promote or discard evidence.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47D280-C2C0-4C67-A165-10A4895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0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A landing zone is reliable when exceptional data has an explicit path, owner, and recovery action.</a:t>
            </a:r>
          </a:p>
        </p:txBody>
      </p:sp>
    </p:spTree>
    <p:extLst>
      <p:ext uri="{BB962C8B-B14F-4D97-AF65-F5344CB8AC3E}">
        <p14:creationId xmlns:p14="http://schemas.microsoft.com/office/powerpoint/2010/main" val="19813754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4FBE45-666A-4EC3-981B-94EF8ED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38EECE-343F-4A44-BB89-6312570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DATA LIFECYCLE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C1BB51-4CC6-4767-9744-4F5C8DD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Hot -&gt; warm -&gt; cold -&gt; archive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173D20-566F-4912-874F-A9A2F34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092C00-6CDE-4E36-B951-A8C9EF02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16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02920" y="123444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4480"/>
                <a:gridCol w="2103120"/>
                <a:gridCol w="1737360"/>
                <a:gridCol w="2743200"/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Stage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Access expectation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Typical data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Engineering decision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Hot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Frequent / low latency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Active pipeline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Keep close to compute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Warm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Occasional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Recent reruns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Lower cost; retrieval OK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Cold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Rare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Long-tail history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Accept fees or delay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Archive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Exceptional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Legal / historical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Optimize retention cost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B57EEC1-78ED-4AEA-A95D-9735E0E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“Frozen” is informal. Cloud storage classes use provider-specific names. Tier by access, retrieval tolerance, retention,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500939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09EE1C-0DDA-4A34-AC62-6225DE8A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5C238D-100D-4F9A-A2EC-95C4624D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PROTECTION CONTROLS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87712C-9FAF-4C07-9C2B-564441CB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Recovery, automation, and compliance differ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A1649-775E-4B6B-900E-30B7EB46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A07643-118C-4627-8ECB-CDB8C19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17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02920" y="118872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3108960"/>
                <a:gridCol w="3017520"/>
              </a:tblGrid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Control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Primary purpose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Behavior / use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B22222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Lifecycle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Automate tier or deletion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Cost + housekeeping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Soft delete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Recover recently deleted objects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Timed recovery window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Versioning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Keep older object generations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Overwrite/delete recovery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Retention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Block deletion before an age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Minimum retention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Bucket Lock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Make retention irreversible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Approved compliance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Holds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Protect selected objects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Event/legal workflow</a:t>
                      </a:r>
                    </a:p>
                  </a:txBody>
                  <a:tcPr marL="64008" marR="64008" marT="64008" marB="64008" anchor="ctr">
                    <a:lnL w="6350" cmpd="sng">
                      <a:solidFill>
                        <a:srgbClr val="DDD8D2"/>
                      </a:solidFill>
                      <a:prstDash val="solid"/>
                    </a:lnL>
                    <a:lnR w="6350" cmpd="sng">
                      <a:solidFill>
                        <a:srgbClr val="DDD8D2"/>
                      </a:solidFill>
                      <a:prstDash val="solid"/>
                    </a:lnR>
                    <a:lnT w="6350" cmpd="sng">
                      <a:solidFill>
                        <a:srgbClr val="DDD8D2"/>
                      </a:solidFill>
                      <a:prstDash val="solid"/>
                    </a:lnT>
                    <a:lnB w="6350" cmpd="sng">
                      <a:solidFill>
                        <a:srgbClr val="DDD8D2"/>
                      </a:solidFill>
                      <a:prstDash val="soli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D0963C9-075D-418D-AFCE-175CB92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Choose the failure or policy you must address. Recovery controls do not replace retention, and lifecycle does not enforce compliance.</a:t>
            </a:r>
          </a:p>
        </p:txBody>
      </p:sp>
    </p:spTree>
    <p:extLst>
      <p:ext uri="{BB962C8B-B14F-4D97-AF65-F5344CB8AC3E}">
        <p14:creationId xmlns:p14="http://schemas.microsoft.com/office/powerpoint/2010/main" val="4890415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A2B0B2-499E-42F5-B92D-3EF700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EF36E2-A6BE-47C6-A9B3-0C3DD7D1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SCHEMA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ADC5D5-465F-4D64-906F-26C18F0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Schema-on-read vs. schema-on-write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E5C26A-36E1-4B98-9261-F8858AF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6545D9-51D8-4DE3-A825-660754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18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E4836E-9BEF-4B5C-AF75-78C76AD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4D846-C1E0-4015-8280-3AF5E3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1A278-97BD-4E39-87BF-B070077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Schema-on-read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0BFF5F-3818-4E21-9D85-7C3BDF38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Store first; apply declared or inferred structure when an engine reads.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6E0DE79-E6A9-4613-BC84-2BAFBF1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CCACDAB-1B55-4F8C-B624-98CB640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8016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751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B9A05C-EB00-494F-B942-0BE8D47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Strength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6E2DE-15BD-48F6-8D3F-A18909B5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3736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Fast exploration, flexible sources, multiple interpretations.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341670-B925-4168-8532-AA4E5F5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A02BDFC-5380-4944-88B4-AE683D4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7AE740-8D3C-4DE8-9456-9CFD5255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Schema-on-write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839014-A0CA-4B5A-B875-61FF0383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Validate and shape data before publishing it to the target table.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848B39-5CB2-49C8-841F-EDD3240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3977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A67E6D-C175-43ED-9FE8-1170BA84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34640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E56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6BEF061-AF58-438B-873A-84A6307B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944368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Strength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D3883-ED9A-4C22-8587-8AF0A89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291840"/>
            <a:ext cx="3666744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Stable contracts, predictable BI, stronger quality enforcement.</a:t>
            </a:r>
          </a:p>
        </p:txBody>
      </p:sp>
    </p:spTree>
    <p:extLst>
      <p:ext uri="{BB962C8B-B14F-4D97-AF65-F5344CB8AC3E}">
        <p14:creationId xmlns:p14="http://schemas.microsoft.com/office/powerpoint/2010/main" val="5022515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1BB74C-5AA9-422C-B3B5-7B287A4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4E12BF-29BC-4CE5-BBAD-03BCFE6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QUERY-IN-PLACE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1D364E-884E-4996-8966-A7585C6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External tables connect SQL to stored files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7DC404-03FB-4725-8A22-8303180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E01715-59C7-4B2F-BA25-3C8241C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19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30F88F-4479-42EB-B795-4884DD1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2CEC89-2169-415F-A9C8-A9329EE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Objects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07314A-0335-4A9C-89AD-F42232A6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CSV / JSON / Parquet in GCS or S3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9FBF6C-1477-454F-8200-F9DDA10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1945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12700">
            <a:solidFill>
              <a:srgbClr val="F7F4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42107-BAE5-455B-848D-304FC0E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614830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External metadata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628F15-E083-4D1E-8616-7B36BEA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077517"/>
            <a:ext cx="208483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URI, format, schema, options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E5F5416-3A9D-4820-8040-827ED0C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25603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  <a:ln xmlns:a="http://schemas.openxmlformats.org/drawingml/2006/main" w="12700">
            <a:solidFill>
              <a:srgbClr val="B2222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657C75-5069-456D-96B4-A2283E50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14830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Query engine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3FC8B37-CE74-4ECE-893C-30EA287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77517"/>
            <a:ext cx="2450592" cy="4224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D7D7"/>
                </a:solidFill>
                <a:latin typeface="Calibri"/>
                <a:ea typeface="Calibri"/>
                <a:cs typeface="Calibri"/>
              </a:rPr>
              <a:t>Reads source files when SQL runs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740C1C4-C9F7-4C87-BF9F-0FD790A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39E9D11-3421-443C-A0E7-8B8500B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2222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8278A4F-ADE7-4783-81A0-F40A286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813816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1. Useful for exploration, validation, infrequent access, and shared data.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2. Scan behavior and source format still affect cost and performance.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3. External data may have consistency or feature limitations.</a:t>
            </a:r>
          </a:p>
          <a:p xmlns:a="http://schemas.openxmlformats.org/drawingml/2006/main">
            <a:pPr marL="177800" indent="-177800">
              <a:spcAft>
                <a:spcPts val="900"/>
              </a:spcAft>
              <a:buChar char="–"/>
            </a:pPr>
            <a:r>
              <a:rPr sz="13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4. Load curated native tables for repeated, governed, performance-sensitive BI.</a:t>
            </a:r>
          </a:p>
        </p:txBody>
      </p:sp>
    </p:spTree>
    <p:extLst>
      <p:ext uri="{BB962C8B-B14F-4D97-AF65-F5344CB8AC3E}">
        <p14:creationId xmlns:p14="http://schemas.microsoft.com/office/powerpoint/2010/main" val="3234047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68012F-A871-4ED8-B45C-532585C5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EDCBF5-6FE2-47C8-B4CB-F9E6C91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REQUIRED LAB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C55C37A-4EC2-4BDE-9A54-564EFC1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Build a secure Cloud Storage landing zone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633628-A193-408B-B3D4-4D5FCBB8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6BD3C5-D4A7-4927-978E-9C19D40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20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D335F5F-DFA2-4A30-B7D4-97E137A4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188720"/>
            <a:ext cx="19202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141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77E6F41-07A8-4863-925F-8BBE7AB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188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100 min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EFEB1D-CD22-42A0-98BA-48E7DB6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594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Goal - create, inspect, organize, protect, and explain a private GCS landing zone.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B6A8558-9D33-4B1C-83B0-742D781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65960"/>
            <a:ext cx="79552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1. Verify account, project, billing, APIs, and instructor readiness.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2. Create private raw/processed buckets; upload and organize sample objects.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3. Predict and observe authenticated vs incognito access behavior.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4. Apply lifecycle, inspect soft delete, enable versioning, overwrite, and restore.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5. Submit Q1-Q7, evidence, lifecycle JSON, and control explanations.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13739AE-0EB7-4411-B9EF-7CCD5EFD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06F079-33D4-4220-864B-3B1ECD7F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502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ED5F63-66A6-4E47-883B-7E576C1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Fallback: pair with a ready learner or use the embedded evidence. Do not attach personal billing.</a:t>
            </a:r>
          </a:p>
        </p:txBody>
      </p:sp>
    </p:spTree>
    <p:extLst>
      <p:ext uri="{BB962C8B-B14F-4D97-AF65-F5344CB8AC3E}">
        <p14:creationId xmlns:p14="http://schemas.microsoft.com/office/powerpoint/2010/main" val="5543001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C33097-083B-4F34-B8D2-49A5D479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263619-0776-4971-9C50-F1A2EA5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REQUIRED ACTIVITIES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29B5EB-FEC9-4AF8-997F-EC473C1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Query files, then design the storage contract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B5D48B-AE02-4101-9322-D34779C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667482-F6ED-44F3-A3AE-7DAEEAFA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21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F359D0D-71FC-4C55-B96F-EB8EF9D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188720"/>
            <a:ext cx="19202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141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FB5BFB-1CD7-46C5-B0D2-21602FC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1887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85 min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66D8B8-EE1C-447E-913A-52DA9B8F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594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Goal - connect stored objects to SQL, then defend an operable NYC Taxi layout.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CAEAAB-B013-4211-A97D-3D859161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65960"/>
            <a:ext cx="79552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1. Query-in-place lab (40 min): external table, supplied SQL, actual bytes processed, limitations.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2. Team design (45 min): raw/quarantine/processed/curated zones and date prefixes.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3. Define formats, late/duplicate/malformed handling, access, and lifecycle.</a:t>
            </a:r>
          </a:p>
          <a:p xmlns:a="http://schemas.openxmlformats.org/drawingml/2006/main">
            <a:pPr marL="0" indent="0">
              <a:spcAft>
                <a:spcPts val="700"/>
              </a:spcAft>
              <a:buNone/>
            </a:pPr>
            <a:r>
              <a:rPr sz="13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4. Choose one query-in-place use and one warehouse use; prepare a short readout.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AA3DA09-3AA4-4D53-A725-BEA4F4FE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534A0B-5D22-4E54-A063-86E4FE6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5029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FFE193-62C5-47E5-BB6A-75BE812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7863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B22222"/>
                </a:solidFill>
                <a:latin typeface="Calibri"/>
                <a:ea typeface="Calibri"/>
                <a:cs typeface="Calibri"/>
              </a:rPr>
              <a:t>Deliverable: individual query notes plus one team storage convention for the Day 5 pipeline.</a:t>
            </a:r>
          </a:p>
        </p:txBody>
      </p:sp>
    </p:spTree>
    <p:extLst>
      <p:ext uri="{BB962C8B-B14F-4D97-AF65-F5344CB8AC3E}">
        <p14:creationId xmlns:p14="http://schemas.microsoft.com/office/powerpoint/2010/main" val="14355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8E882A-14F4-47D2-BFB9-FB25A72A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76F676-9FEF-4470-B081-DCC7E2F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22222"/>
                </a:solidFill>
                <a:latin typeface="Trebuchet MS"/>
                <a:ea typeface="Trebuchet MS"/>
                <a:cs typeface="Trebuchet MS"/>
              </a:rPr>
              <a:t>RECAP + EXIT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147A11-FCCA-4167-9337-D6E39A37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12121"/>
                </a:solidFill>
                <a:latin typeface="Trebuchet MS"/>
                <a:ea typeface="Trebuchet MS"/>
                <a:cs typeface="Trebuchet MS"/>
              </a:rPr>
              <a:t>Carry the storage contract into Day 5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87573E-C4A7-4042-A237-7F2795D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TechCatalyst DE 2026 · The Hartford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9BC9B9-8D78-47F5-9403-6234B7EA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4608"/>
            <a:ext cx="2240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9A9A"/>
                </a:solidFill>
                <a:latin typeface="Calibri"/>
                <a:ea typeface="Calibri"/>
                <a:cs typeface="Calibri"/>
              </a:rPr>
              <a:t>Week 1 · Day 4  ·  22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B5400F-B633-4B4E-8456-68A01DAA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3D73AAC-1759-41AB-BC35-C429AEA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D6B6596-C350-46FA-B6F2-ACD0A5B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216152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Object storage is the durable foundation; formats, layout, metadata, controls, and compute make it useful.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F0D72AD-02ED-47CE-81C1-B297805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47672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CCD7F7A-1A6D-4DFE-8A1B-18BAA1B0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4767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953D62-082C-46F8-9CEC-3181BEE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29384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Tomorrow's NYC Taxi pipeline lands into explicit zones, handles bad data, and promotes trusted outputs.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6D896A2-4EEB-44C8-96A5-F01CC47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60904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33636FB-0B00-4EA5-9EA9-BF7B068B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6090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B6D089-D6E6-405B-AF75-BCAD52C0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42616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Exit: explain one difference between a data lake and a data warehouse without naming a product.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C7BBC3-F94B-4F19-BE20-53209CA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74136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C1DD75-B313-410E-810D-7461D2D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741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333813-5440-4B40-BEFD-342914D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3558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Exit: give one benefit and one new responsibility created by separating storage and compute.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B7C61D0-15F4-4C1E-AFB4-4B31B8C9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87368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222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B1C6AA2-9BD5-445F-96CE-113D4C29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873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6350CF-1FF0-443B-8119-E2C4F9C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6908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212121"/>
                </a:solidFill>
                <a:latin typeface="Calibri"/>
                <a:ea typeface="Calibri"/>
                <a:cs typeface="Calibri"/>
              </a:rPr>
              <a:t>Exit: choose one accidental-deletion control and one compliance-retention control; explain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1659788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2026-06-22T17:16:37.4880000Z</dcterms:created>
  <dcterms:modified xsi:type="dcterms:W3CDTF">2026-06-22T17:16:37.4880000Z</dcterms:modified>
</coreProperties>
</file>