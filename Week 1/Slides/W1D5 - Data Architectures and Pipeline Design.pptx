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82296"/>
            <a:ext cx="2834640" cy="5061204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502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0" y="1664208"/>
            <a:ext cx="457200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8745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like an architect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vs Kappa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Diagramming with Draw.io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TECHCATALYST DE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architectures &amp; pipeline design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Lambda, Kappa, and Medallion — then you draw your own pipeline and defend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617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Hartford  ·  TechCatalyst Data Engineering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92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Block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 – 8:30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&amp; stand-up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8:30 – 9:45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like a solution architect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 – 11:30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patterns: batch/streaming, Lambda, Kappa, Medallion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11:30 – 12:00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grammar: how to draw architectures people can 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Demo: Draw.io + reference architecture walkthrough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 the dataset: NYC TLC taxi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2:15 – 4:15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design lab: your pipeline 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4:15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Readouts, critique, week recap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 MINDSET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is decisions, not boxes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E1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“Good architecture answers questions before they're asked.”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81381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Question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Drives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the sources, formats, and volumes?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pattern, storage layout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fresh must the data be?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vs streaming — and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consumes it, and how?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design, serving layer, 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 go wrong?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checks, retries,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sensitive?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masking, access control,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it cost to run?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choices, partitioning, lifecycle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patterns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names you'll hear in every design review.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 architecture: two paths, one truth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1554480" cy="9144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21579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" y="257860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+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0"/>
            <a:ext cx="2011680" cy="8229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1420978"/>
            <a:ext cx="19019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layer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98064" y="1799539"/>
            <a:ext cx="19019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accurate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926080"/>
            <a:ext cx="2011680" cy="8229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2975458"/>
            <a:ext cx="19019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layer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98064" y="3354019"/>
            <a:ext cx="19019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approximate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2103120"/>
            <a:ext cx="1828800" cy="9144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215798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41264" y="257860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views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103120"/>
            <a:ext cx="960120" cy="9144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210312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 / apps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57400" y="2377440"/>
            <a:ext cx="685800" cy="-59436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057400" y="2743200"/>
            <a:ext cx="685800" cy="59436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1783080"/>
            <a:ext cx="731520" cy="59436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54880" y="3337560"/>
            <a:ext cx="731520" cy="-59436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15200" y="2560320"/>
            <a:ext cx="36576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accuracy + low latency. Con: two codebases doing the same logic — expensive to maintain.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Kappa architecture: everything is a stream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1645920" cy="9144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224942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" y="26700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 events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194560"/>
            <a:ext cx="2194560" cy="9144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2344" y="224942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log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52344" y="26700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Pub/Sub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2194560"/>
            <a:ext cx="1828800" cy="9144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5544" y="224942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 processing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95544" y="26700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18120" y="2194560"/>
            <a:ext cx="868680" cy="9144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72984" y="2194560"/>
            <a:ext cx="75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2651760"/>
            <a:ext cx="54864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92040" y="2651760"/>
            <a:ext cx="54864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69480" y="2651760"/>
            <a:ext cx="54864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02920" y="352044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processing path: reprocess history by replaying the log from the start.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than Lambda — but everything must fit the streaming model.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most enterprises (including insurers) run mostly-batch hybrids. That's fine.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Medallion architecture: refine in layers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377440" cy="1371600"/>
          </a:xfrm>
          <a:prstGeom prst="rect">
            <a:avLst/>
          </a:prstGeom>
          <a:solidFill>
            <a:srgbClr val="6E4F2A"/>
          </a:solidFill>
          <a:ln w="12700">
            <a:solidFill>
              <a:srgbClr val="6E4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728216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" y="2359152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as-landed, immutable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377440" cy="1371600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728216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38144" y="2359152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typed, deduped, conformed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377440" cy="1371600"/>
          </a:xfrm>
          <a:prstGeom prst="rect">
            <a:avLst/>
          </a:prstGeom>
          <a:solidFill>
            <a:srgbClr val="8F6508"/>
          </a:solidFill>
          <a:ln w="12700">
            <a:solidFill>
              <a:srgbClr val="8F65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728216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18504" y="2359152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business-level aggregates, ready to serve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2331720"/>
            <a:ext cx="50292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2331720"/>
            <a:ext cx="50292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contract: what's guaranteed about the data once it's there.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bronze — you can always rebuild silver and gold from it.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directly to our buckets: raw/ → cleaned/ → curated/. You'll live this from Week 2 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ETL vs ELT (a Week 3 preview)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22860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228600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36667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before loading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of the on-prem era: warehouse compute was scarce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22860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80160"/>
            <a:ext cx="50292" cy="2286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1737360"/>
            <a:ext cx="36667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raw, transform inside the warehouse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default: BigQuery/Snowflake compute is elastic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Load → Transform (dbt!)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is ELT thinking applied to the lake: land first, refine in place. Full treatment in Week 3.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Drawing architectures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diagram is an argument — make it readable.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DIAGRAMMING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 grammar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8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Rule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one direction (left → right)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Readers shouldn't hunt for the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every arrow with what moves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“parquet files, hourly” beats a bare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into zones (ingest / store / transform / serve)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 tell the story at a glance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icon = one service, 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“Dataflow” not “magic happens”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humans &amp; consumers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exists for them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latency, volume,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numbers drive the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DIAGRAMMING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Reference: NYC Taxi pipeline on GCP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783080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 (MEDALLION)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783080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737360"/>
            <a:ext cx="1783080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 &amp; SERVE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737360"/>
            <a:ext cx="1783080" cy="18288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1920240"/>
            <a:ext cx="1554480" cy="7772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1966874"/>
            <a:ext cx="144475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TLC source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" y="2324405"/>
            <a:ext cx="144475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parquet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1554480" cy="7772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" y="3109874"/>
            <a:ext cx="144475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/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" y="3467405"/>
            <a:ext cx="144475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upload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2468880"/>
            <a:ext cx="1554480" cy="86868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9464" y="2521001"/>
            <a:ext cx="1444752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GCS lake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9464" y="2920594"/>
            <a:ext cx="1444752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+ silver zones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2468880"/>
            <a:ext cx="1554480" cy="8686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2521001"/>
            <a:ext cx="1444752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81144" y="2920594"/>
            <a:ext cx="1444752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468880"/>
            <a:ext cx="1325880" cy="8686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2521001"/>
            <a:ext cx="1216152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BigQuery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55664" y="2920594"/>
            <a:ext cx="1216152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01000" y="1920240"/>
            <a:ext cx="658368" cy="7772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5864" y="1966874"/>
            <a:ext cx="54864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55864" y="2324405"/>
            <a:ext cx="54864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01000" y="3063240"/>
            <a:ext cx="658368" cy="7772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55864" y="3109874"/>
            <a:ext cx="54864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55864" y="3467405"/>
            <a:ext cx="54864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280160" y="2697480"/>
            <a:ext cx="0" cy="36576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057400" y="3200400"/>
            <a:ext cx="457200" cy="-22860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069080" y="2898648"/>
            <a:ext cx="457200" cy="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80760" y="2898648"/>
            <a:ext cx="320040" cy="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726680" y="2697480"/>
            <a:ext cx="274320" cy="-32004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726680" y="3108960"/>
            <a:ext cx="274320" cy="2743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skeleton you'll flesh out over 8 weeks — today you design your own version of 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THREAD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dataset: NYC TLC trip records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89888"/>
            <a:ext cx="23317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05968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taxi trips per month, every month since 2009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280160"/>
            <a:ext cx="26060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389888"/>
            <a:ext cx="23317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Parquet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10712" y="205968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files published monthly by NYC TLC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44184" y="1280160"/>
            <a:ext cx="26060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1389888"/>
            <a:ext cx="23317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81344" y="205968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types: yellow, green, FHV, high-volume FHV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lookup tables (taxi zones), shapefiles, and related NYC open datasets (collisions, air quality).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messiness: nulls, outliers ($500k fares), schema drift across years, late data.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dataset used by the DataTalksClub DE Zoomcamp — a great free companion resource.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ACTIVITY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lab — your taxi pipeline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your team's end-to-end conceptual architecture for the 8-week pipeline.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 first: consumers, freshness, volumes, sensitive fields (answer the architect questions).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flow in Draw.io: sources → ingest → medallion storage zones → warehouse → serving.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arrows with data format and cadence; mark where quality checks and PII masking happen.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half-page narrative: walk a new engineer through the diagram.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5-minute defense — every member presents one zone.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224528"/>
            <a:ext cx="50292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(Draw.io) + design narrative — Week 1's graded deliverable.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LAB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Critique protocol for readouts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2651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26517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366674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requirements, not boxes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left to right, zone by zone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service and why it's there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unknowns — that's a strength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2651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80160"/>
            <a:ext cx="50292" cy="26517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Reviewers ask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1737360"/>
            <a:ext cx="366674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file fails halfway?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PII leak?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cost at 10x volume?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cut to ship in a week?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the design, never the designer. Every architecture is a draft.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 · 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2161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starts with questions — freshness, volume, consumers, sensitivity, cost — not services.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9293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= two paths (accurate + fast); Kappa = one stream; Medallion = refine raw → silver → gold in layers.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64261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diagram is an argument: one direction, labeled arrows, zones, named services.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3558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1 deliverable is the blueprint you will actually build for 7 more weeks.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4069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hands-on-keyboard — Linux, Git collaboration, and Python from scratch. AI-free.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W1D5 Data Architectures and Pipeline Design</dc:title>
  <dc:subject>PptxGenJS Presentation</dc:subject>
  <dc:creator>TechCatalyst DE 2026</dc:creator>
  <cp:lastModifiedBy>TechCatalyst DE 2026</cp:lastModifiedBy>
  <cp:revision>1</cp:revision>
  <dcterms:created xsi:type="dcterms:W3CDTF">2026-06-11T11:31:12Z</dcterms:created>
  <dcterms:modified xsi:type="dcterms:W3CDTF">2026-06-11T11:31:12Z</dcterms:modified>
</cp:coreProperties>
</file>